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2011680"/>
          </a:xfrm>
          <a:prstGeom prst="rect">
            <a:avLst/>
          </a:prstGeom>
          <a:solidFill>
            <a:srgbClr val="2E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14600"/>
            <a:ext cx="73152" cy="2103120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606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FD8"/>
                </a:solidFill>
              </a:rPr>
              <a:t>IRL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632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Analisis Proses Capture Data Existing, Sumber Data,
Field yang Dibutuhkan, serta Penyusunan Project Scope &amp; Process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416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FD8"/>
                </a:solidFill>
              </a:rPr>
              <a:t>Dashboard GM — Modul Heat Transfer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093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99AA"/>
                </a:solidFill>
              </a:rPr>
              <a:t>Dibuat: Agustus 2026  |  Versi: 1.0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0" y="914400"/>
            <a:ext cx="164592" cy="164592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00" y="914400"/>
            <a:ext cx="164592" cy="164592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515600" y="914400"/>
            <a:ext cx="164592" cy="164592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972800" y="914400"/>
            <a:ext cx="164592" cy="164592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601200" y="1371600"/>
            <a:ext cx="164592" cy="164592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58400" y="1371600"/>
            <a:ext cx="164592" cy="164592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515600" y="1371600"/>
            <a:ext cx="164592" cy="164592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972800" y="1371600"/>
            <a:ext cx="164592" cy="164592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Ringkasan Eksekutif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3035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FD8"/>
                </a:solidFill>
              </a:rPr>
              <a:t>Latar Belakang &amp; Tujuan Proyek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</a:rPr>
              <a:t>Dashboard GM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53312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Platform pemantauan produksi internal berbasis web yang memetakan, menganalisis, dan memvisualisasikan data operasional secara real-time.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011680"/>
            <a:ext cx="1737360" cy="1371600"/>
          </a:xfrm>
          <a:prstGeom prst="rect">
            <a:avLst/>
          </a:prstGeom>
          <a:solidFill>
            <a:srgbClr val="2E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084831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🏭  APS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95728"/>
            <a:ext cx="15544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Rencana &amp; Pengiriman
(Delivery / PDK)
Sistem IOS-APS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40279" y="2011680"/>
            <a:ext cx="1737360" cy="137160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31720" y="2084831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📦  Engage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2395728"/>
            <a:ext cx="15544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Aktual Produksi
(Inflow / Outflow)
Warehouse Engage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0" y="2011680"/>
            <a:ext cx="1737360" cy="13716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2084831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🪡  CIUROX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2395728"/>
            <a:ext cx="15544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Kesiapan Aksesoris
(Accessories)
Sistem CIUROX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547872"/>
            <a:ext cx="5303520" cy="640080"/>
          </a:xfrm>
          <a:prstGeom prst="rect">
            <a:avLst/>
          </a:prstGeom>
          <a:solidFill>
            <a:srgbClr val="E3F2FD"/>
          </a:solidFill>
          <a:ln w="12700">
            <a:solidFill>
              <a:srgbClr val="2E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584448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3A5F"/>
                </a:solidFill>
              </a:rPr>
              <a:t>⚙️  Teknologi Otomasi: Robotic Process Automation (RPA)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822191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Playwright Python (Engage &amp; Accessories)  +  Windows GUI Automation (APS)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1005840"/>
            <a:ext cx="5852160" cy="5303520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107899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Metrik Utama Dashboard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1417320"/>
            <a:ext cx="55778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145389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3A5F"/>
                </a:solidFill>
              </a:rPr>
              <a:t>📊 Total 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169164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Akumulasi output aktual dari Engage Outflow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2103120"/>
            <a:ext cx="55778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213969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3A5F"/>
                </a:solidFill>
              </a:rPr>
              <a:t>⚖️ Balance Qty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2377439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Sisa qty: PDK APS − Output Aktual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2788920"/>
            <a:ext cx="55778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63640" y="282549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3A5F"/>
                </a:solidFill>
              </a:rPr>
              <a:t>✅ Ready to Load (RTL)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3063239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Gabungan APS + Engage + CIUROX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3474720"/>
            <a:ext cx="55778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351129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3A5F"/>
                </a:solidFill>
              </a:rPr>
              <a:t>📅 Kapasitas Harian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3749039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Balance ÷ Remaining Workdays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0" y="4160520"/>
            <a:ext cx="55778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419709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3A5F"/>
                </a:solidFill>
              </a:rPr>
              <a:t>🔺 Prioritas Order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443484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Berdasarkan delivery date terdekat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6480" y="4846320"/>
            <a:ext cx="55778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488289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3A5F"/>
                </a:solidFill>
              </a:rPr>
              <a:t>📈 Management Analytics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512064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Insight, status, CAP, action plan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82880" y="6638544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BCCDD"/>
                </a:solidFill>
              </a:rPr>
              <a:t>Dashboard GM — Modul Heat Transfer  |  IRL 2 Document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30000" y="65836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Existing Data Source &amp; User Requirement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3035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FD8"/>
                </a:solidFill>
              </a:rPr>
              <a:t>Sumber Data &amp; Kebutuhan Pengguna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5486400" cy="3474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103327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1. Existing Data Source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53312"/>
            <a:ext cx="1188720" cy="320040"/>
          </a:xfrm>
          <a:prstGeom prst="rect">
            <a:avLst/>
          </a:prstGeom>
          <a:solidFill>
            <a:srgbClr val="2E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4" y="1389888"/>
            <a:ext cx="1097280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Source</a:t>
            </a:r>
          </a:p>
        </p:txBody>
      </p:sp>
      <p:sp>
        <p:nvSpPr>
          <p:cNvPr id="9" name="Rectangle 8"/>
          <p:cNvSpPr/>
          <p:nvPr/>
        </p:nvSpPr>
        <p:spPr>
          <a:xfrm>
            <a:off x="1508760" y="1353312"/>
            <a:ext cx="4297680" cy="320040"/>
          </a:xfrm>
          <a:prstGeom prst="rect">
            <a:avLst/>
          </a:prstGeom>
          <a:solidFill>
            <a:srgbClr val="2E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63624" y="1389888"/>
            <a:ext cx="4206240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Fungsi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673352"/>
            <a:ext cx="118872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4" y="1700784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2E"/>
                </a:solidFill>
              </a:rPr>
              <a:t>APS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08760" y="1673352"/>
            <a:ext cx="429768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63624" y="1700784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Master Data Order — JO Tracking (JO.xlsx)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020824"/>
            <a:ext cx="11887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4904" y="2048255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2E"/>
                </a:solidFill>
              </a:rPr>
              <a:t>Engage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08760" y="2020824"/>
            <a:ext cx="4297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63624" y="2048255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Master Data IN &amp; OUT Transaksi — Database MySQL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368296"/>
            <a:ext cx="118872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" y="2395727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2E"/>
                </a:solidFill>
              </a:rPr>
              <a:t>CIUROX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08760" y="2368296"/>
            <a:ext cx="429768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63624" y="2395727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Ready Accessories — CONTROLIST.xlsx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880360"/>
            <a:ext cx="5486400" cy="3474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3192" y="2907791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4. Scope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227832"/>
            <a:ext cx="5486400" cy="320040"/>
          </a:xfrm>
          <a:prstGeom prst="rect">
            <a:avLst/>
          </a:prstGeom>
          <a:solidFill>
            <a:srgbClr val="2E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4904" y="3264408"/>
            <a:ext cx="5394960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Lingkup Fitur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575304"/>
            <a:ext cx="5486400" cy="292608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4904" y="3602736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2E"/>
                </a:solidFill>
              </a:rPr>
              <a:t>Material Ready Dashboard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867912"/>
            <a:ext cx="54864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4904" y="3895344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2E"/>
                </a:solidFill>
              </a:rPr>
              <a:t>Heat Transfer Dashboard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160520"/>
            <a:ext cx="5486400" cy="292608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4904" y="4187952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2E"/>
                </a:solidFill>
              </a:rPr>
              <a:t>Integrasi APS (JO Tracking)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4453128"/>
            <a:ext cx="54864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4904" y="4480560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2E"/>
                </a:solidFill>
              </a:rPr>
              <a:t>Integrasi Engage (IN/OUT Transaksi)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4745736"/>
            <a:ext cx="5486400" cy="292608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4904" y="4773168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2E"/>
                </a:solidFill>
              </a:rPr>
              <a:t>Integrasi CIUROX (Accessories Controlist)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5038344"/>
            <a:ext cx="54864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" y="5065776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2E"/>
                </a:solidFill>
              </a:rPr>
              <a:t>Capture Data Otomatis via RPA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5330952"/>
            <a:ext cx="5486400" cy="292608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4904" y="5358384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2E"/>
                </a:solidFill>
              </a:rPr>
              <a:t>Monitoring Material Ready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80760" y="1005840"/>
            <a:ext cx="5806440" cy="3474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53912" y="1033272"/>
            <a:ext cx="5715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3. User Requirement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80760" y="1353312"/>
            <a:ext cx="1645920" cy="320040"/>
          </a:xfrm>
          <a:prstGeom prst="rect">
            <a:avLst/>
          </a:prstGeom>
          <a:solidFill>
            <a:srgbClr val="2E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35624" y="1389888"/>
            <a:ext cx="1554480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User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726680" y="1353312"/>
            <a:ext cx="4160520" cy="320040"/>
          </a:xfrm>
          <a:prstGeom prst="rect">
            <a:avLst/>
          </a:prstGeom>
          <a:solidFill>
            <a:srgbClr val="2E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81544" y="1389888"/>
            <a:ext cx="4069080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Requirement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80760" y="1673352"/>
            <a:ext cx="164592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35624" y="1700784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2E"/>
                </a:solidFill>
              </a:rPr>
              <a:t>Operator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26680" y="1673352"/>
            <a:ext cx="416052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81544" y="1700784"/>
            <a:ext cx="4069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Mengetahui hasil scan IN &amp; OUT material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80760" y="2020824"/>
            <a:ext cx="1645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35624" y="2048255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2E"/>
                </a:solidFill>
              </a:rPr>
              <a:t>Line Leader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726680" y="2020824"/>
            <a:ext cx="41605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781544" y="2048255"/>
            <a:ext cx="4069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Monitoring Output produksi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080760" y="2368296"/>
            <a:ext cx="164592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35624" y="2395727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2E"/>
                </a:solidFill>
              </a:rPr>
              <a:t>Supervisor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726680" y="2368296"/>
            <a:ext cx="416052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781544" y="2395727"/>
            <a:ext cx="4069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Monitoring Ready Material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080760" y="2715768"/>
            <a:ext cx="1645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135624" y="2743199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2E"/>
                </a:solidFill>
              </a:rPr>
              <a:t>Planner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726680" y="2715768"/>
            <a:ext cx="41605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781544" y="2743199"/>
            <a:ext cx="4069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Planning Loading berdasarkan data ready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80760" y="3063239"/>
            <a:ext cx="164592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35624" y="3090671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2E"/>
                </a:solidFill>
              </a:rPr>
              <a:t>Management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726680" y="3063239"/>
            <a:ext cx="416052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781544" y="3090671"/>
            <a:ext cx="4069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Summary Dashboard — ringkasan status produksi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080760" y="3429000"/>
            <a:ext cx="5806440" cy="2560320"/>
          </a:xfrm>
          <a:prstGeom prst="rect">
            <a:avLst/>
          </a:prstGeom>
          <a:solidFill>
            <a:srgbClr val="FFF8E1"/>
          </a:solidFill>
          <a:ln w="1270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217920" y="349300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5C00"/>
                </a:solidFill>
              </a:rPr>
              <a:t>📌 Catatan Akses per Role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17920" y="379476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50">
                <a:solidFill>
                  <a:srgbClr val="1A1A2E"/>
                </a:solidFill>
              </a:rPr>
              <a:t>• Operator  → Input scan &amp; lihat status IN/OUT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1A1A2E"/>
                </a:solidFill>
              </a:rPr>
              <a:t>• Line Leader → Monitor progress output harian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1A1A2E"/>
                </a:solidFill>
              </a:rPr>
              <a:t>• Supervisor → Monitor ready material &amp; approve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1A1A2E"/>
                </a:solidFill>
              </a:rPr>
              <a:t>• Planner   → Planning loading ke produksi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1A1A2E"/>
                </a:solidFill>
              </a:rPr>
              <a:t>• Management → Dashboard ringkasan eksekutif</a:t>
            </a:r>
          </a:p>
        </p:txBody>
      </p:sp>
      <p:sp>
        <p:nvSpPr>
          <p:cNvPr id="70" name="Rectangle 69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82880" y="6638544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BCCDD"/>
                </a:solidFill>
              </a:rPr>
              <a:t>Dashboard GM — Modul Heat Transfer  |  IRL 2 Document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430000" y="65836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Data Requirement — Field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3035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FD8"/>
                </a:solidFill>
              </a:rPr>
              <a:t>Mapping field tampilan dashboard dengan sumber datanya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11567160" cy="3474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1033272"/>
            <a:ext cx="11475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2. Data Requirement — Field Dashboard &amp; Sumber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53312"/>
            <a:ext cx="2011680" cy="320040"/>
          </a:xfrm>
          <a:prstGeom prst="rect">
            <a:avLst/>
          </a:prstGeom>
          <a:solidFill>
            <a:srgbClr val="2E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4" y="1389888"/>
            <a:ext cx="1920240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Field Dashboard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2331720" y="1353312"/>
            <a:ext cx="2377440" cy="320040"/>
          </a:xfrm>
          <a:prstGeom prst="rect">
            <a:avLst/>
          </a:prstGeom>
          <a:solidFill>
            <a:srgbClr val="2E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86584" y="1389888"/>
            <a:ext cx="2286000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Sumber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09160" y="1353312"/>
            <a:ext cx="7178040" cy="320040"/>
          </a:xfrm>
          <a:prstGeom prst="rect">
            <a:avLst/>
          </a:prstGeom>
          <a:solidFill>
            <a:srgbClr val="2E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64024" y="1389888"/>
            <a:ext cx="7086600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Keterangan / Formula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73352"/>
            <a:ext cx="201168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" y="1700784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2E"/>
                </a:solidFill>
              </a:rPr>
              <a:t>Order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31720" y="1673352"/>
            <a:ext cx="237744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86584" y="170078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APS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09160" y="1673352"/>
            <a:ext cx="717804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64024" y="1700784"/>
            <a:ext cx="7086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Nomor Job Order dari JO.xlsx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020824"/>
            <a:ext cx="2011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" y="2048255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2E"/>
                </a:solidFill>
              </a:rPr>
              <a:t>Style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31720" y="2020824"/>
            <a:ext cx="2377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86584" y="2048255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APS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09160" y="2020824"/>
            <a:ext cx="7178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64024" y="2048255"/>
            <a:ext cx="7086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Kode / nama desain dari kolom Factory Style / Cust. Style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2368296"/>
            <a:ext cx="201168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4904" y="2395727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2E"/>
                </a:solidFill>
              </a:rPr>
              <a:t>Tgl. Delivery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31720" y="2368296"/>
            <a:ext cx="237744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86584" y="2395727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APS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09160" y="2368296"/>
            <a:ext cx="717804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64024" y="2395727"/>
            <a:ext cx="7086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Tanggal target pengiriman dari kolom Delivery Date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2715768"/>
            <a:ext cx="2011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4904" y="2743199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2E"/>
                </a:solidFill>
              </a:rPr>
              <a:t>Qty PDK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331720" y="2715768"/>
            <a:ext cx="2377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86584" y="2743199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APS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09160" y="2715768"/>
            <a:ext cx="7178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64024" y="2743199"/>
            <a:ext cx="7086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Target rencana produksi dari kolom HEAT TRANSFER Plan Qty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3063239"/>
            <a:ext cx="201168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" y="3090671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2E"/>
                </a:solidFill>
              </a:rPr>
              <a:t>Qty IN &amp; OUT Panel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31720" y="3063239"/>
            <a:ext cx="237744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386584" y="3090671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Engage (MySQL)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709160" y="3063239"/>
            <a:ext cx="717804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64024" y="3090671"/>
            <a:ext cx="7086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Transaksi inflow (+) dan outflow (−) dari tb_engage_transactions &amp; tb_engage_archieve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3410711"/>
            <a:ext cx="2011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4904" y="3438143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2E"/>
                </a:solidFill>
              </a:rPr>
              <a:t>Qty Material Ready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331720" y="3410711"/>
            <a:ext cx="2377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386584" y="3438143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APS + Engage + CIUROX ✅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709160" y="3410711"/>
            <a:ext cx="7178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64024" y="3438143"/>
            <a:ext cx="7086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Gabungan: order dari APS ↔ stok Engage (inflow−outflow) ↔ COMPLETED di CIUROX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3758183"/>
            <a:ext cx="201168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4904" y="3785615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2E"/>
                </a:solidFill>
              </a:rPr>
              <a:t>Balance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331720" y="3758183"/>
            <a:ext cx="237744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386584" y="3785615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Calculation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709160" y="3758183"/>
            <a:ext cx="717804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764024" y="3785615"/>
            <a:ext cx="7086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Qty PDK − Qty Output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4105655"/>
            <a:ext cx="2011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74904" y="4133087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2E"/>
                </a:solidFill>
              </a:rPr>
              <a:t>Working Days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331720" y="4105655"/>
            <a:ext cx="2377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386584" y="4133087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Configured by SPV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709160" y="4105655"/>
            <a:ext cx="7178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764024" y="4133087"/>
            <a:ext cx="7086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Kalender kerja dikonfigurasi admin / SPV via dashboard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20040" y="4453127"/>
            <a:ext cx="201168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74904" y="4480559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2E"/>
                </a:solidFill>
              </a:rPr>
              <a:t>Remaining Workdays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331720" y="4453127"/>
            <a:ext cx="237744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386584" y="4480559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Calculation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709160" y="4453127"/>
            <a:ext cx="7178040" cy="347472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764024" y="4480559"/>
            <a:ext cx="7086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Jumlah hari kerja tersisa dari hari ini hingga akhir periode delivery aktif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20040" y="4800599"/>
            <a:ext cx="20116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74904" y="4828031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2E"/>
                </a:solidFill>
              </a:rPr>
              <a:t>Capacity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331720" y="4800599"/>
            <a:ext cx="23774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386584" y="4828031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Calculation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709160" y="4800599"/>
            <a:ext cx="71780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764024" y="4828031"/>
            <a:ext cx="7086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Balance ÷ Remaining Workdays → beban harian minimum agar target tercapai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20040" y="5239511"/>
            <a:ext cx="11567160" cy="105156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02920" y="5294375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7D32"/>
                </a:solidFill>
              </a:rPr>
              <a:t>📐 Formula Utama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02920" y="5532119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  Balance = Qty PDK − Qty Output        |        Remaining Workdays = Σ NilaiHari(t) dari hari ini s.d akhir periode        |        Capacity = Balance ÷ Remaining Workdays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02920" y="5833871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33691E"/>
                </a:solidFill>
              </a:rPr>
              <a:t>NilaiHari:  Hari kerja biasa / Lembur Minggu = 1.0  |  Setengah hari = 0.5  |  Seperempat hari = 0.25  |  Libur / Minggu biasa = 0.0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82880" y="6638544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BCCDD"/>
                </a:solidFill>
              </a:rPr>
              <a:t>Dashboard GM — Modul Heat Transfer  |  IRL 2 Document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430000" y="65836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Analisis Proses Capture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3035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FD8"/>
                </a:solidFill>
              </a:rPr>
              <a:t>Mekanisme otomasi pengumpulan data dari sistem legacy via RPA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97280"/>
            <a:ext cx="1691640" cy="105156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</a:rPr>
              <a:t>Master
Scheduler
rpa/scheduler.py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39112" y="1417319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3A5F"/>
                </a:solidFill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2313432" y="1097280"/>
            <a:ext cx="1691640" cy="1051560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</a:rPr>
              <a:t>Accessories RPA
Playwright Python
→ CONTROLIST.xlsx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32504" y="1417319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3A5F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306824" y="1097280"/>
            <a:ext cx="1691640" cy="1051560"/>
          </a:xfrm>
          <a:prstGeom prst="rect">
            <a:avLst/>
          </a:prstGeom>
          <a:solidFill>
            <a:srgbClr val="007A8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</a:rPr>
              <a:t>Engage RPA
Playwright Python
→ MySQL Sync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25896" y="1417319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3A5F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0216" y="1097280"/>
            <a:ext cx="1691640" cy="1051560"/>
          </a:xfrm>
          <a:prstGeom prst="rect">
            <a:avLst/>
          </a:prstGeom>
          <a:solidFill>
            <a:srgbClr val="2E558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</a:rPr>
              <a:t>APS RPA
Windows GUI
→ JO.xlsx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19288" y="1417319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3A5F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93608" y="1097280"/>
            <a:ext cx="1691640" cy="1051560"/>
          </a:xfrm>
          <a:prstGeom prst="rect">
            <a:avLst/>
          </a:prstGeom>
          <a:solidFill>
            <a:srgbClr val="4A148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</a:rPr>
              <a:t>Clean Data
&amp; Kalkulasi
Dashboard_model.php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12680" y="1417319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E3A5F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87000" y="1097280"/>
            <a:ext cx="1691640" cy="1051560"/>
          </a:xfrm>
          <a:prstGeom prst="rect">
            <a:avLst/>
          </a:prstGeom>
          <a:solidFill>
            <a:srgbClr val="01579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</a:rPr>
              <a:t>Web Dashboard
&amp; Analytics
Frontend CI3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13432" y="2286000"/>
            <a:ext cx="1691640" cy="2331720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86584" y="2331720"/>
            <a:ext cx="1554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• Login CIUROX
• Filter: awal bulan s.d hari ini
• Status: COMPLETED
• Download CONTROLIST.xlsx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06824" y="2286000"/>
            <a:ext cx="1691640" cy="2331720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79976" y="2331720"/>
            <a:ext cx="1554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• Login Engage web
• Storage 32 &amp; 32a, dir=0
• 10 hari terakhir
• Sync → MySQL via PHP helper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0216" y="2286000"/>
            <a:ext cx="1691640" cy="2331720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2331720"/>
            <a:ext cx="1554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• Buka IOS-APS
• Login &amp; filter Route HT
• Export JO.xlsx
• Periode: bulan lalu s.d +2 bln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93608" y="2286000"/>
            <a:ext cx="1691640" cy="2331720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2331720"/>
            <a:ext cx="1554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• Baca JO.xlsx &amp; CONTROLIST
• Query MySQL Engage
• Hitung Balance, RTL, Kapasitas
• Simpan ke dashboard_heat_history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287000" y="2286000"/>
            <a:ext cx="1691640" cy="2331720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60152" y="2331720"/>
            <a:ext cx="1554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2E"/>
                </a:solidFill>
              </a:rPr>
              <a:t>• Render Chart &amp; Tabel
• API JSON endpoint
• Kalender kerja
• Analytics &amp; CAP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800600"/>
            <a:ext cx="11567160" cy="640080"/>
          </a:xfrm>
          <a:prstGeom prst="rect">
            <a:avLst/>
          </a:prstGeom>
          <a:solidFill>
            <a:srgbClr val="E3F2FD"/>
          </a:solidFill>
          <a:ln w="12700">
            <a:solidFill>
              <a:srgbClr val="2E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84632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3A5F"/>
                </a:solidFill>
              </a:rPr>
              <a:t>⏱  Jadwal Eksekusi Otomatis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084064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Accessories &amp; Engage: setiap 1 jam  |  APS: setiap 2 jam  |  Aktif: 07:00 – 23:00 (Windows Server Admin)  |  File lock: scheduler.lock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2880" y="6638544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BCCDD"/>
                </a:solidFill>
              </a:rPr>
              <a:t>Dashboard GM — Modul Heat Transfer  |  IRL 2 Document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0" y="65836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Sumber Data &amp; Field yang Dibutuhkan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3035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FD8"/>
                </a:solidFill>
              </a:rPr>
              <a:t>Data dictionary per sumber RPA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11567160" cy="3474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1033272"/>
            <a:ext cx="11475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A. APS — JO.xlsx  (Filter: Route mengandung 'HT')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53312"/>
            <a:ext cx="3200400" cy="320040"/>
          </a:xfrm>
          <a:prstGeom prst="rect">
            <a:avLst/>
          </a:prstGeom>
          <a:solidFill>
            <a:srgbClr val="2E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4904" y="1389888"/>
            <a:ext cx="3108960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Field (Excel Header)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1353312"/>
            <a:ext cx="1097280" cy="320040"/>
          </a:xfrm>
          <a:prstGeom prst="rect">
            <a:avLst/>
          </a:prstGeom>
          <a:solidFill>
            <a:srgbClr val="2E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75304" y="1389888"/>
            <a:ext cx="1005839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Tipe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17720" y="1353312"/>
            <a:ext cx="7269480" cy="320040"/>
          </a:xfrm>
          <a:prstGeom prst="rect">
            <a:avLst/>
          </a:prstGeom>
          <a:solidFill>
            <a:srgbClr val="2E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72583" y="1389888"/>
            <a:ext cx="7178040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Kegunaan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673352"/>
            <a:ext cx="3200400" cy="292608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" y="1700784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2E"/>
                </a:solidFill>
              </a:rPr>
              <a:t>JO / Order No.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20440" y="1673352"/>
            <a:ext cx="1097280" cy="292608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75304" y="1700784"/>
            <a:ext cx="10058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String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17720" y="1673352"/>
            <a:ext cx="7269480" cy="292608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72583" y="1700784"/>
            <a:ext cx="7178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Kunci relasi utama (Order ID)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1965960"/>
            <a:ext cx="32004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" y="1993391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2E"/>
                </a:solidFill>
              </a:rPr>
              <a:t>Process Route / Route Name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20440" y="1965960"/>
            <a:ext cx="10972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75304" y="1993391"/>
            <a:ext cx="10058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String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17720" y="1965960"/>
            <a:ext cx="72694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72583" y="1993391"/>
            <a:ext cx="7178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Validasi rute produksi — wajib mengandung sub-string 'HT'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2258568"/>
            <a:ext cx="3200400" cy="292608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4904" y="2285999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2E"/>
                </a:solidFill>
              </a:rPr>
              <a:t>HEAT TRANSFER Plan Qty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20440" y="2258568"/>
            <a:ext cx="1097280" cy="292608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75304" y="2285999"/>
            <a:ext cx="10058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Int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17720" y="2258568"/>
            <a:ext cx="7269480" cy="292608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72583" y="2285999"/>
            <a:ext cx="7178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Target rencana produksi modul Heat Transfer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2551175"/>
            <a:ext cx="32004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4904" y="2578607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2E"/>
                </a:solidFill>
              </a:rPr>
              <a:t>HEAT TRANSFER Qty.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20440" y="2551175"/>
            <a:ext cx="10972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75304" y="2578607"/>
            <a:ext cx="10058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Int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17720" y="2551175"/>
            <a:ext cx="72694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72583" y="2578607"/>
            <a:ext cx="7178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Qty sudah selesai menurut catatan APS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2843783"/>
            <a:ext cx="3200400" cy="292608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4" y="2871215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2E"/>
                </a:solidFill>
              </a:rPr>
              <a:t>HEAT TRANSFER Non-finished Qty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20440" y="2843783"/>
            <a:ext cx="1097280" cy="292608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75304" y="2871215"/>
            <a:ext cx="10058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Int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7720" y="2843783"/>
            <a:ext cx="7269480" cy="292608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72583" y="2871215"/>
            <a:ext cx="7178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Sisa (balance) rencana yang belum selesai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3136391"/>
            <a:ext cx="32004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74904" y="3163823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2E"/>
                </a:solidFill>
              </a:rPr>
              <a:t>Delivery Date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20440" y="3136391"/>
            <a:ext cx="10972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75304" y="3163823"/>
            <a:ext cx="10058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Date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17720" y="3136391"/>
            <a:ext cx="72694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72583" y="3163823"/>
            <a:ext cx="7178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Penentu periode target pengiriman (MID / END bulan)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3428999"/>
            <a:ext cx="3200400" cy="292608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4904" y="3456431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2E"/>
                </a:solidFill>
              </a:rPr>
              <a:t>Factory Style / Cust. Style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20440" y="3428999"/>
            <a:ext cx="1097280" cy="292608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575304" y="3456431"/>
            <a:ext cx="10058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String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617720" y="3428999"/>
            <a:ext cx="7269480" cy="292608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672583" y="3456431"/>
            <a:ext cx="7178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Kode / nama desain pakaian untuk visualisasi UI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3813047"/>
            <a:ext cx="11567160" cy="3474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93192" y="3840479"/>
            <a:ext cx="11475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C. CIUROX — CONTROLIST.xlsx  (Filter: Status = 'COMPLETED')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0040" y="4160519"/>
            <a:ext cx="3200400" cy="320040"/>
          </a:xfrm>
          <a:prstGeom prst="rect">
            <a:avLst/>
          </a:prstGeom>
          <a:solidFill>
            <a:srgbClr val="2E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74904" y="4197095"/>
            <a:ext cx="3108960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Field (Excel Header)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520440" y="4160519"/>
            <a:ext cx="1097280" cy="320040"/>
          </a:xfrm>
          <a:prstGeom prst="rect">
            <a:avLst/>
          </a:prstGeom>
          <a:solidFill>
            <a:srgbClr val="2E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575304" y="4197095"/>
            <a:ext cx="1005839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Tipe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617720" y="4160519"/>
            <a:ext cx="7269480" cy="320040"/>
          </a:xfrm>
          <a:prstGeom prst="rect">
            <a:avLst/>
          </a:prstGeom>
          <a:solidFill>
            <a:srgbClr val="2E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672583" y="4197095"/>
            <a:ext cx="7178040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Kegunaan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20040" y="4480559"/>
            <a:ext cx="3200400" cy="292608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74904" y="4507992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2E"/>
                </a:solidFill>
              </a:rPr>
              <a:t>Order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520440" y="4480559"/>
            <a:ext cx="1097280" cy="292608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575304" y="4507992"/>
            <a:ext cx="10058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String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617720" y="4480559"/>
            <a:ext cx="7269480" cy="292608"/>
          </a:xfrm>
          <a:prstGeom prst="rect">
            <a:avLst/>
          </a:prstGeom>
          <a:solidFill>
            <a:srgbClr val="F5F7FA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672583" y="4507992"/>
            <a:ext cx="7178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Nomor Order untuk dicocokkan dengan order aktif di APS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20040" y="4773168"/>
            <a:ext cx="32004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74904" y="4800600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1A2E"/>
                </a:solidFill>
              </a:rPr>
              <a:t>Status Pesanan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520440" y="4773168"/>
            <a:ext cx="10972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575304" y="4800600"/>
            <a:ext cx="10058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String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617720" y="4773168"/>
            <a:ext cx="726948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672583" y="4800600"/>
            <a:ext cx="7178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Penanda kesiapan. Jika COMPLETED → aksesoris siap mendukung produksi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20040" y="5175504"/>
            <a:ext cx="11567160" cy="1005840"/>
          </a:xfrm>
          <a:prstGeom prst="rect">
            <a:avLst/>
          </a:prstGeom>
          <a:solidFill>
            <a:srgbClr val="E0F7FA"/>
          </a:solidFill>
          <a:ln w="12700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02920" y="522122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A87"/>
                </a:solidFill>
              </a:rPr>
              <a:t>B. Engage — Database MySQL (tb_engage_transactions &amp; tb_engage_archieve)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02920" y="5495544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1A1A2E"/>
                </a:solidFill>
              </a:rPr>
              <a:t>Kolom utama: date (tanggal transaksi)  |  cost_center (nomor order)  |  qty (positif=Input, negatif=Output)  |  udef_1 (Style)  |  text (catatan filter)
Filter Storage 32: Udef5/4='rpl' OR Udef6='sk' OR text ∈ {rpl, ts, return, koreksi, sk}  |  Filter Storage 32a: Udef5/4='rpl' OR Udef6='sk' OR text ∈ {csdb, csbd, ts}</a:t>
            </a:r>
          </a:p>
        </p:txBody>
      </p:sp>
      <p:sp>
        <p:nvSpPr>
          <p:cNvPr id="78" name="Rectangle 77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82880" y="6638544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BCCDD"/>
                </a:solidFill>
              </a:rPr>
              <a:t>Dashboard GM — Modul Heat Transfer  |  IRL 2 Document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430000" y="65836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Process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3035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FD8"/>
                </a:solidFill>
              </a:rPr>
              <a:t>Existing Flow (Manual) vs Proposed Flow (Otomatis)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987552"/>
            <a:ext cx="5394960" cy="292608"/>
          </a:xfrm>
          <a:prstGeom prst="rect">
            <a:avLst/>
          </a:prstGeom>
          <a:solidFill>
            <a:srgbClr val="2E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00584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EXISTING FLOW  —  Proses Manual</a:t>
            </a:r>
          </a:p>
        </p:txBody>
      </p:sp>
      <p:sp>
        <p:nvSpPr>
          <p:cNvPr id="7" name="Oval 6"/>
          <p:cNvSpPr/>
          <p:nvPr/>
        </p:nvSpPr>
        <p:spPr>
          <a:xfrm>
            <a:off x="2057400" y="1325880"/>
            <a:ext cx="1920240" cy="347472"/>
          </a:xfrm>
          <a:prstGeom prst="ellipse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Start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17520" y="1673352"/>
            <a:ext cx="0" cy="109728"/>
          </a:xfrm>
          <a:prstGeom prst="line">
            <a:avLst/>
          </a:prstGeom>
          <a:ln w="19050">
            <a:solidFill>
              <a:srgbClr val="1E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057400" y="1783080"/>
            <a:ext cx="1920240" cy="347472"/>
          </a:xfrm>
          <a:prstGeom prst="rect">
            <a:avLst/>
          </a:prstGeom>
          <a:solidFill>
            <a:srgbClr val="C8E6C9"/>
          </a:solidFill>
          <a:ln w="9525">
            <a:solidFill>
              <a:srgbClr val="2E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1A1A2E"/>
                </a:solidFill>
              </a:rPr>
              <a:t>Operator scan Material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17520" y="2130552"/>
            <a:ext cx="0" cy="109728"/>
          </a:xfrm>
          <a:prstGeom prst="line">
            <a:avLst/>
          </a:prstGeom>
          <a:ln w="19050">
            <a:solidFill>
              <a:srgbClr val="1E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057400" y="2240280"/>
            <a:ext cx="1920240" cy="347472"/>
          </a:xfrm>
          <a:prstGeom prst="rect">
            <a:avLst/>
          </a:prstGeom>
          <a:solidFill>
            <a:srgbClr val="C8E6C9"/>
          </a:solidFill>
          <a:ln w="9525">
            <a:solidFill>
              <a:srgbClr val="2E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1A1A2E"/>
                </a:solidFill>
              </a:rPr>
              <a:t>Operator login APS &amp; download JO.xlsx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17520" y="2587752"/>
            <a:ext cx="0" cy="109728"/>
          </a:xfrm>
          <a:prstGeom prst="line">
            <a:avLst/>
          </a:prstGeom>
          <a:ln w="19050">
            <a:solidFill>
              <a:srgbClr val="1E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2057400" y="2697480"/>
            <a:ext cx="1920240" cy="347472"/>
          </a:xfrm>
          <a:prstGeom prst="rect">
            <a:avLst/>
          </a:prstGeom>
          <a:solidFill>
            <a:srgbClr val="C8E6C9"/>
          </a:solidFill>
          <a:ln w="9525">
            <a:solidFill>
              <a:srgbClr val="2E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1A1A2E"/>
                </a:solidFill>
              </a:rPr>
              <a:t>Operator login Engage &amp; download data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017520" y="3044952"/>
            <a:ext cx="0" cy="109728"/>
          </a:xfrm>
          <a:prstGeom prst="line">
            <a:avLst/>
          </a:prstGeom>
          <a:ln w="19050">
            <a:solidFill>
              <a:srgbClr val="1E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2057400" y="3154680"/>
            <a:ext cx="1920240" cy="347472"/>
          </a:xfrm>
          <a:prstGeom prst="rect">
            <a:avLst/>
          </a:prstGeom>
          <a:solidFill>
            <a:srgbClr val="C8E6C9"/>
          </a:solidFill>
          <a:ln w="9525">
            <a:solidFill>
              <a:srgbClr val="2E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1A1A2E"/>
                </a:solidFill>
              </a:rPr>
              <a:t>Tunggu Email Controlist dari Accessories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017520" y="3502152"/>
            <a:ext cx="0" cy="109728"/>
          </a:xfrm>
          <a:prstGeom prst="line">
            <a:avLst/>
          </a:prstGeom>
          <a:ln w="19050">
            <a:solidFill>
              <a:srgbClr val="1E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057400" y="3611880"/>
            <a:ext cx="1920240" cy="347472"/>
          </a:xfrm>
          <a:prstGeom prst="rect">
            <a:avLst/>
          </a:prstGeom>
          <a:solidFill>
            <a:srgbClr val="C8E6C9"/>
          </a:solidFill>
          <a:ln w="9525">
            <a:solidFill>
              <a:srgbClr val="2E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1A1A2E"/>
                </a:solidFill>
              </a:rPr>
              <a:t>Pengolahan &amp; Rekap Data di Excel Manual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017520" y="3959352"/>
            <a:ext cx="0" cy="109728"/>
          </a:xfrm>
          <a:prstGeom prst="line">
            <a:avLst/>
          </a:prstGeom>
          <a:ln w="19050">
            <a:solidFill>
              <a:srgbClr val="1E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2057400" y="4069080"/>
            <a:ext cx="1920240" cy="347472"/>
          </a:xfrm>
          <a:prstGeom prst="rect">
            <a:avLst/>
          </a:prstGeom>
          <a:solidFill>
            <a:srgbClr val="C8E6C9"/>
          </a:solidFill>
          <a:ln w="9525">
            <a:solidFill>
              <a:srgbClr val="2E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1A1A2E"/>
                </a:solidFill>
              </a:rPr>
              <a:t>Kirim Laporan Manual ke Supervisor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017520" y="4416552"/>
            <a:ext cx="0" cy="109728"/>
          </a:xfrm>
          <a:prstGeom prst="line">
            <a:avLst/>
          </a:prstGeom>
          <a:ln w="19050">
            <a:solidFill>
              <a:srgbClr val="1E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2057400" y="4526280"/>
            <a:ext cx="1920240" cy="347472"/>
          </a:xfrm>
          <a:prstGeom prst="rect">
            <a:avLst/>
          </a:prstGeom>
          <a:solidFill>
            <a:srgbClr val="C8E6C9"/>
          </a:solidFill>
          <a:ln w="9525">
            <a:solidFill>
              <a:srgbClr val="2E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1A1A2E"/>
                </a:solidFill>
              </a:rPr>
              <a:t>Verifikasi data?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017520" y="4873752"/>
            <a:ext cx="0" cy="109728"/>
          </a:xfrm>
          <a:prstGeom prst="line">
            <a:avLst/>
          </a:prstGeom>
          <a:ln w="19050">
            <a:solidFill>
              <a:srgbClr val="1E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2057400" y="4983480"/>
            <a:ext cx="1920240" cy="347472"/>
          </a:xfrm>
          <a:prstGeom prst="rect">
            <a:avLst/>
          </a:prstGeom>
          <a:solidFill>
            <a:srgbClr val="C8E6C9"/>
          </a:solidFill>
          <a:ln w="9525">
            <a:solidFill>
              <a:srgbClr val="2E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1A1A2E"/>
                </a:solidFill>
              </a:rPr>
              <a:t>Operator Menyampaikan Laporan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017520" y="5330952"/>
            <a:ext cx="0" cy="109728"/>
          </a:xfrm>
          <a:prstGeom prst="line">
            <a:avLst/>
          </a:prstGeom>
          <a:ln w="19050">
            <a:solidFill>
              <a:srgbClr val="1E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2057400" y="5440680"/>
            <a:ext cx="1920240" cy="347472"/>
          </a:xfrm>
          <a:prstGeom prst="rect">
            <a:avLst/>
          </a:prstGeom>
          <a:solidFill>
            <a:srgbClr val="C8E6C9"/>
          </a:solidFill>
          <a:ln w="9525">
            <a:solidFill>
              <a:srgbClr val="2E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1A1A2E"/>
                </a:solidFill>
              </a:rPr>
              <a:t>Supervisor &amp; Planning Review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017520" y="5788152"/>
            <a:ext cx="0" cy="109728"/>
          </a:xfrm>
          <a:prstGeom prst="line">
            <a:avLst/>
          </a:prstGeom>
          <a:ln w="19050">
            <a:solidFill>
              <a:srgbClr val="1E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2057400" y="5897880"/>
            <a:ext cx="1920240" cy="347472"/>
          </a:xfrm>
          <a:prstGeom prst="ellipse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Finish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987552"/>
            <a:ext cx="5669280" cy="292608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10058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PROPOSED FLOW  —  Otomasi Sistem</a:t>
            </a:r>
          </a:p>
        </p:txBody>
      </p:sp>
      <p:sp>
        <p:nvSpPr>
          <p:cNvPr id="30" name="Oval 29"/>
          <p:cNvSpPr/>
          <p:nvPr/>
        </p:nvSpPr>
        <p:spPr>
          <a:xfrm>
            <a:off x="8046719" y="1325880"/>
            <a:ext cx="1920240" cy="438912"/>
          </a:xfrm>
          <a:prstGeom prst="ellipse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Start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006840" y="1764792"/>
            <a:ext cx="0" cy="128015"/>
          </a:xfrm>
          <a:prstGeom prst="line">
            <a:avLst/>
          </a:prstGeom>
          <a:ln w="19050">
            <a:solidFill>
              <a:srgbClr val="1E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8046719" y="1892807"/>
            <a:ext cx="1920240" cy="438912"/>
          </a:xfrm>
          <a:prstGeom prst="rect">
            <a:avLst/>
          </a:prstGeom>
          <a:solidFill>
            <a:srgbClr val="C8E6C9"/>
          </a:solidFill>
          <a:ln w="9525">
            <a:solidFill>
              <a:srgbClr val="2E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1A1A2E"/>
                </a:solidFill>
              </a:rPr>
              <a:t>Operator scan Material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006840" y="2331720"/>
            <a:ext cx="0" cy="128016"/>
          </a:xfrm>
          <a:prstGeom prst="line">
            <a:avLst/>
          </a:prstGeom>
          <a:ln w="19050">
            <a:solidFill>
              <a:srgbClr val="1E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8046719" y="2459736"/>
            <a:ext cx="1920240" cy="438912"/>
          </a:xfrm>
          <a:prstGeom prst="rect">
            <a:avLst/>
          </a:prstGeom>
          <a:solidFill>
            <a:srgbClr val="BBDEFB"/>
          </a:solidFill>
          <a:ln w="9525">
            <a:solidFill>
              <a:srgbClr val="2E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1A1A2E"/>
                </a:solidFill>
              </a:rPr>
              <a:t>RPA Automated Data Capture
(APS + Engage + CIUROX)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006840" y="2898648"/>
            <a:ext cx="0" cy="128016"/>
          </a:xfrm>
          <a:prstGeom prst="line">
            <a:avLst/>
          </a:prstGeom>
          <a:ln w="19050">
            <a:solidFill>
              <a:srgbClr val="1E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8046719" y="3026664"/>
            <a:ext cx="1920240" cy="438912"/>
          </a:xfrm>
          <a:prstGeom prst="rect">
            <a:avLst/>
          </a:prstGeom>
          <a:solidFill>
            <a:srgbClr val="BBDEFB"/>
          </a:solidFill>
          <a:ln w="9525">
            <a:solidFill>
              <a:srgbClr val="2E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1A1A2E"/>
                </a:solidFill>
              </a:rPr>
              <a:t>Database &amp; Data Cleansing
(MySQL)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006840" y="3465576"/>
            <a:ext cx="0" cy="128016"/>
          </a:xfrm>
          <a:prstGeom prst="line">
            <a:avLst/>
          </a:prstGeom>
          <a:ln w="19050">
            <a:solidFill>
              <a:srgbClr val="1E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8046719" y="3593592"/>
            <a:ext cx="1920240" cy="438912"/>
          </a:xfrm>
          <a:prstGeom prst="rect">
            <a:avLst/>
          </a:prstGeom>
          <a:solidFill>
            <a:srgbClr val="BBDEFB"/>
          </a:solidFill>
          <a:ln w="9525">
            <a:solidFill>
              <a:srgbClr val="2E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1A1A2E"/>
                </a:solidFill>
              </a:rPr>
              <a:t>Web Dashboard &amp; Analytics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006840" y="4032504"/>
            <a:ext cx="0" cy="128016"/>
          </a:xfrm>
          <a:prstGeom prst="line">
            <a:avLst/>
          </a:prstGeom>
          <a:ln w="19050">
            <a:solidFill>
              <a:srgbClr val="1E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8046719" y="4160520"/>
            <a:ext cx="1920240" cy="438912"/>
          </a:xfrm>
          <a:prstGeom prst="rect">
            <a:avLst/>
          </a:prstGeom>
          <a:solidFill>
            <a:srgbClr val="C8E6C9"/>
          </a:solidFill>
          <a:ln w="9525">
            <a:solidFill>
              <a:srgbClr val="2E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0">
                <a:solidFill>
                  <a:srgbClr val="1A1A2E"/>
                </a:solidFill>
              </a:rPr>
              <a:t>Supervisor &amp; Planning Review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006840" y="4599431"/>
            <a:ext cx="0" cy="128016"/>
          </a:xfrm>
          <a:prstGeom prst="line">
            <a:avLst/>
          </a:prstGeom>
          <a:ln w="19050">
            <a:solidFill>
              <a:srgbClr val="1E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8046719" y="4727447"/>
            <a:ext cx="1920240" cy="438912"/>
          </a:xfrm>
          <a:prstGeom prst="ellipse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</a:rPr>
              <a:t>Finish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72200" y="5989320"/>
            <a:ext cx="5669280" cy="594360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9360" y="601675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E3A5F"/>
                </a:solidFill>
              </a:rPr>
              <a:t>Keterangan: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949440" y="6080760"/>
            <a:ext cx="256032" cy="164592"/>
          </a:xfrm>
          <a:prstGeom prst="rect">
            <a:avLst/>
          </a:prstGeom>
          <a:solidFill>
            <a:srgbClr val="C8E6C9"/>
          </a:solidFill>
          <a:ln w="6350">
            <a:solidFill>
              <a:srgbClr val="2E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69480" y="6062472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Human Process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44000" y="6080760"/>
            <a:ext cx="256032" cy="164592"/>
          </a:xfrm>
          <a:prstGeom prst="rect">
            <a:avLst/>
          </a:prstGeom>
          <a:solidFill>
            <a:srgbClr val="BBDEFB"/>
          </a:solidFill>
          <a:ln w="6350">
            <a:solidFill>
              <a:srgbClr val="2E5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64040" y="6062472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System Process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82880" y="6638544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BCCDD"/>
                </a:solidFill>
              </a:rPr>
              <a:t>Dashboard GM — Modul Heat Transfer  |  IRL 2 Document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430000" y="65836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Project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3035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FD8"/>
                </a:solidFill>
              </a:rPr>
              <a:t>Batasan lingkup pengembangan Dashboard GM — Modul Heat Transfer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557784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✅  Fitur Masuk Lingkup (In-Scope)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5577840" cy="658368"/>
          </a:xfrm>
          <a:prstGeom prst="rect">
            <a:avLst/>
          </a:prstGeom>
          <a:solidFill>
            <a:srgbClr val="F1F8E9"/>
          </a:solidFill>
          <a:ln w="635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53896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E7D32"/>
                </a:solidFill>
              </a:rPr>
              <a:t>Master Scheduler 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73352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1A1A2E"/>
                </a:solidFill>
              </a:rPr>
              <a:t>Otomasi berjalan di background Windows Server. Tidak perlu trigger manual dari user.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112264"/>
            <a:ext cx="5577840" cy="658368"/>
          </a:xfrm>
          <a:prstGeom prst="rect">
            <a:avLst/>
          </a:prstGeom>
          <a:solidFill>
            <a:srgbClr val="F1F8E9"/>
          </a:solidFill>
          <a:ln w="635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48840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E7D32"/>
                </a:solidFill>
              </a:rPr>
              <a:t>Excel Data Parsing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368296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1A1A2E"/>
                </a:solidFill>
              </a:rPr>
              <a:t>Baca .xlsx hemat RAM langsung dari zip/xml. Fuzzy header matching untuk antisipasi perubahan kolom.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807208"/>
            <a:ext cx="5577840" cy="658368"/>
          </a:xfrm>
          <a:prstGeom prst="rect">
            <a:avLst/>
          </a:prstGeom>
          <a:solidFill>
            <a:srgbClr val="F1F8E9"/>
          </a:solidFill>
          <a:ln w="635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843784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E7D32"/>
                </a:solidFill>
              </a:rPr>
              <a:t>Logika Bisnis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06324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1A1A2E"/>
                </a:solidFill>
              </a:rPr>
              <a:t>Total Output, Balance Qty, Ready to Load (APS+Engage+CIUROX), Kapasitas Harian.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502152"/>
            <a:ext cx="5577840" cy="658368"/>
          </a:xfrm>
          <a:prstGeom prst="rect">
            <a:avLst/>
          </a:prstGeom>
          <a:solidFill>
            <a:srgbClr val="F1F8E9"/>
          </a:solidFill>
          <a:ln w="635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538728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E7D32"/>
                </a:solidFill>
              </a:rPr>
              <a:t>Kalender Kerja &amp; Hari Libur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758184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1A1A2E"/>
                </a:solidFill>
              </a:rPr>
              <a:t>Manajemen kalender Heat (libur, setengah hari, lembur). Auth session PHP.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197096"/>
            <a:ext cx="5577840" cy="658368"/>
          </a:xfrm>
          <a:prstGeom prst="rect">
            <a:avLst/>
          </a:prstGeom>
          <a:solidFill>
            <a:srgbClr val="F1F8E9"/>
          </a:solidFill>
          <a:ln w="635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233672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E7D32"/>
                </a:solidFill>
              </a:rPr>
              <a:t>Database Sinkronisasi &amp; Caching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453128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1A1A2E"/>
                </a:solidFill>
              </a:rPr>
              <a:t>Sync transaksi ke tb_engage_transactions, arsip ke tb_engage_archieve, harian ke engage_daily_history.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892040"/>
            <a:ext cx="5577840" cy="658368"/>
          </a:xfrm>
          <a:prstGeom prst="rect">
            <a:avLst/>
          </a:prstGeom>
          <a:solidFill>
            <a:srgbClr val="F1F8E9"/>
          </a:solidFill>
          <a:ln w="6350">
            <a:solidFill>
              <a:srgbClr val="81C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928616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E7D32"/>
                </a:solidFill>
              </a:rPr>
              <a:t>Material Ready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148072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1A1A2E"/>
                </a:solidFill>
              </a:rPr>
              <a:t>Modul baru monitoring material ready lintas role: Operator, Line Leader, Supervisor, Planner, Management.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1005840"/>
            <a:ext cx="5696712" cy="347472"/>
          </a:xfrm>
          <a:prstGeom prst="rect">
            <a:avLst/>
          </a:prstGeom>
          <a:solidFill>
            <a:srgbClr val="D32F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1042415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❌  Fitur di Luar Lingkup (Out-of-Scope)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1417320"/>
            <a:ext cx="5696712" cy="822960"/>
          </a:xfrm>
          <a:prstGeom prst="rect">
            <a:avLst/>
          </a:prstGeom>
          <a:solidFill>
            <a:srgbClr val="FFEBEE"/>
          </a:solidFill>
          <a:ln w="6350">
            <a:solidFill>
              <a:srgbClr val="EF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146304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D32F2F"/>
                </a:solidFill>
              </a:rPr>
              <a:t>Modifikasi Aplikasi Legacy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1728216"/>
            <a:ext cx="5394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1A1A2E"/>
                </a:solidFill>
              </a:rPr>
              <a:t>Tidak ada perubahan fitur pada IOS-APS, Engage, atau CIUROX. Jika legacy down, RPA gagal.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200" y="2295144"/>
            <a:ext cx="5696712" cy="822960"/>
          </a:xfrm>
          <a:prstGeom prst="rect">
            <a:avLst/>
          </a:prstGeom>
          <a:solidFill>
            <a:srgbClr val="FFEBEE"/>
          </a:solidFill>
          <a:ln w="6350">
            <a:solidFill>
              <a:srgbClr val="EF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2340863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D32F2F"/>
                </a:solidFill>
              </a:rPr>
              <a:t>Koneksi Database Langsung ke ERP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2606039"/>
            <a:ext cx="5394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1A1A2E"/>
                </a:solidFill>
              </a:rPr>
              <a:t>Data diambil via RPA &amp; scraping Excel/web — bukan koneksi DB langsung (kendala akses &amp; keamanan).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72200" y="3172968"/>
            <a:ext cx="5696712" cy="822960"/>
          </a:xfrm>
          <a:prstGeom prst="rect">
            <a:avLst/>
          </a:prstGeom>
          <a:solidFill>
            <a:srgbClr val="FFEBEE"/>
          </a:solidFill>
          <a:ln w="6350">
            <a:solidFill>
              <a:srgbClr val="EF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3218687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D32F2F"/>
                </a:solidFill>
              </a:rPr>
              <a:t>Modul Dashboard Selain Heat Transfer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3483863"/>
            <a:ext cx="53949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 i="0">
                <a:solidFill>
                  <a:srgbClr val="1A1A2E"/>
                </a:solidFill>
              </a:rPr>
              <a:t>Dokumen ini fokus pada Heat Transfer. Modul cutting, sewing, dll. didefinisikan di scope terpisah.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82880" y="6638544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BCCDD"/>
                </a:solidFill>
              </a:rPr>
              <a:t>Dashboard GM — Modul Heat Transfer  |  IRL 2 Document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0" y="65836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Logika Bisnis &amp; Rumus Perhitungan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3035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FD8"/>
                </a:solidFill>
              </a:rPr>
              <a:t>Formula utama yang digunakan backend Dashboard_model.php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5577840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042416"/>
            <a:ext cx="5440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📊  QTY PDK vs Output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5577840" cy="2560320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389888"/>
            <a:ext cx="5394959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Periode delivery dibentuk dari Delivery Date APS:
  • Tanggal 1–15      →  MID &lt;bulan&gt;
  • Tanggal 16–akhir  →  END &lt;bulan&gt;
QTY PDK = total Qty Plan APS pada periode tsb.
QTY Output = total output Engage yang cocok order/periode.
Balance = max(0, QTY PDK − QTY Output)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1005840"/>
            <a:ext cx="5715000" cy="32004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1042416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✅  Ready to Load (RTL)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325880"/>
            <a:ext cx="5715000" cy="2560320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0488" y="1389888"/>
            <a:ext cx="553212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Sumber gabungan tiga sistem:
  1. APS → daftar order aktif
  2. Engage → stok inflow − outflow per order
  3. CIUROX → konfirmasi status COMPLETED
Order dianggap ready jika: ada di APS + stok Engage tersedia + aksesoris COMPLETED CIUROX.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931920"/>
            <a:ext cx="5577840" cy="320040"/>
          </a:xfrm>
          <a:prstGeom prst="rect">
            <a:avLst/>
          </a:prstGeom>
          <a:solidFill>
            <a:srgbClr val="2E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3968496"/>
            <a:ext cx="5440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📅  Kapasitas Harian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4251959"/>
            <a:ext cx="5577840" cy="2560320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" y="4315968"/>
            <a:ext cx="5394959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Remaining Workdays = Σ NilaiHari(t)  dari hari ini s.d akhir periode
  Hari kerja / lembur Minggu  = 1.0
  Setengah hari               = 0.5
  Seperempat hari             = 0.25
  Libur / Minggu biasa        = 0.0
Kapasitas Harian = Balance ÷ Remaining Workdays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3931920"/>
            <a:ext cx="5715000" cy="32004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3968496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⚠️  Required Daily Output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4251959"/>
            <a:ext cx="5715000" cy="2560320"/>
          </a:xfrm>
          <a:prstGeom prst="rect">
            <a:avLst/>
          </a:prstGeom>
          <a:solidFill>
            <a:srgbClr val="F5F7F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0488" y="4315968"/>
            <a:ext cx="553212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Export Remaining Workdays = Remaining Workdays − 4 hari buffer export
Required Daily Output = Balance periode berjalan ÷ Export Remaining Workdays
Status:
  • Avg Output ≥ Required       → good (On Track)
  • Avg Output ≥ Required × 90% → watch (Need Attention)
  • Di bawah itu                → risk (At Risk)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" y="6638544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BCCDD"/>
                </a:solidFill>
              </a:rPr>
              <a:t>Dashboard GM — Modul Heat Transfer  |  IRL 2 Document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0" y="65836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Kesimpulan &amp; Rekomendasi Teknis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3035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FD8"/>
                </a:solidFill>
              </a:rPr>
              <a:t>Temuan analisis IRL 2 dan langkah teknis selanjutnya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5394960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42415"/>
            <a:ext cx="5120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Kesimpulan Analisis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71600"/>
            <a:ext cx="53949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371600"/>
            <a:ext cx="54864" cy="685800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26464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3A5F"/>
                </a:solidFill>
              </a:rPr>
              <a:t>Stabilitas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82496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Data transaksi Engage diproses langsung dari MySQL — lebih stabil vs parsing Excel besar.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103120"/>
            <a:ext cx="53949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2103120"/>
            <a:ext cx="54864" cy="685800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157984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3A5F"/>
                </a:solidFill>
              </a:rPr>
              <a:t>Otomasi Penuh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414015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Capture data sepenuhnya otomatis via RPA scheduler (07:00–23:00). Tidak ada intervensi manual.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834639"/>
            <a:ext cx="53949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834639"/>
            <a:ext cx="54864" cy="685800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889503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3A5F"/>
                </a:solidFill>
              </a:rPr>
              <a:t>3 Sumber Terintegrasi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145535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APS + Engage + CIUROX terintegrasi menghasilkan metrik Material Ready yang akurat.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566159"/>
            <a:ext cx="539496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566159"/>
            <a:ext cx="54864" cy="685800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621023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E3A5F"/>
                </a:solidFill>
              </a:rPr>
              <a:t>Kalkulasi Real-time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877055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Balance, Kapasitas, RTL dihitung ulang setiap kali data terbaru tersedia dari RPA.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89320" y="1005840"/>
            <a:ext cx="5897880" cy="32004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1042415"/>
            <a:ext cx="56692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Rekomendasi Teknis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1371600"/>
            <a:ext cx="5897880" cy="822960"/>
          </a:xfrm>
          <a:prstGeom prst="rect">
            <a:avLst/>
          </a:prstGeom>
          <a:solidFill>
            <a:srgbClr val="E0F7FA"/>
          </a:solidFill>
          <a:ln w="6350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1426464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7A87"/>
                </a:solidFill>
              </a:rPr>
              <a:t>🔍  Monitor Log Sinkronisasi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1700784"/>
            <a:ext cx="5577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Pantau rpa/logs/scheduler.log secara rutin untuk deteksi duplikat data atau deadlock saat sync Engage.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89320" y="2249424"/>
            <a:ext cx="5897880" cy="822960"/>
          </a:xfrm>
          <a:prstGeom prst="rect">
            <a:avLst/>
          </a:prstGeom>
          <a:solidFill>
            <a:srgbClr val="E0F7FA"/>
          </a:solidFill>
          <a:ln w="6350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0" y="2304288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7A87"/>
                </a:solidFill>
              </a:rPr>
              <a:t>🔒  Hindari File Lock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2578608"/>
            <a:ext cx="5577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Jangan buka JO.xlsx atau CONTROLIST.xlsx secara manual saat RPA berjalan — dapat menyebabkan Permission Error.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89320" y="3127248"/>
            <a:ext cx="5897880" cy="822960"/>
          </a:xfrm>
          <a:prstGeom prst="rect">
            <a:avLst/>
          </a:prstGeom>
          <a:solidFill>
            <a:srgbClr val="E0F7FA"/>
          </a:solidFill>
          <a:ln w="6350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0" y="3182112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7A87"/>
                </a:solidFill>
              </a:rPr>
              <a:t>📈  Optimasi Query Database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3456432"/>
            <a:ext cx="5577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Tambah indeks pada kolom date dan cost_center di tb_engage_archieve agar query bulanan tetap cepat seiring data menumpuk.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89320" y="4005072"/>
            <a:ext cx="5897880" cy="822960"/>
          </a:xfrm>
          <a:prstGeom prst="rect">
            <a:avLst/>
          </a:prstGeom>
          <a:solidFill>
            <a:srgbClr val="E0F7FA"/>
          </a:solidFill>
          <a:ln w="6350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26480" y="4059935"/>
            <a:ext cx="5577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7A87"/>
                </a:solidFill>
              </a:rPr>
              <a:t>🆕  Pengembangan Modul Berikutnya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0" y="4334256"/>
            <a:ext cx="5577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Material Ready Dashboard, monitoring multi-role, dan dashboard cutting/sewing didefinisikan di scope terpisah.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82880" y="6638544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BCCDD"/>
                </a:solidFill>
              </a:rPr>
              <a:t>Dashboard GM — Modul Heat Transfer  |  IRL 2 Document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0" y="65836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