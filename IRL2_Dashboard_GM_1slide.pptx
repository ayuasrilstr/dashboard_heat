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918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27432"/>
            <a:ext cx="1197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IRL 2 : Analisis proses capture data existing, sumber data, field yang dibutuhkan, serta penyusunan project scope dan process flow.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" y="384048"/>
            <a:ext cx="3291840" cy="2011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402336"/>
            <a:ext cx="32186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1. Existing Data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" y="585216"/>
            <a:ext cx="822960" cy="192024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" y="603504"/>
            <a:ext cx="75895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585216"/>
            <a:ext cx="2468880" cy="192024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603504"/>
            <a:ext cx="240487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Fungsi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" y="777240"/>
            <a:ext cx="82296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" y="795528"/>
            <a:ext cx="75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APS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777240"/>
            <a:ext cx="246888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795528"/>
            <a:ext cx="2404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</a:rPr>
              <a:t>Master Data Order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" y="1014983"/>
            <a:ext cx="8229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" y="1033271"/>
            <a:ext cx="75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Engage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014983"/>
            <a:ext cx="24688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1033271"/>
            <a:ext cx="2404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</a:rPr>
              <a:t>Master Data IN &amp; OUT Panel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" y="1252728"/>
            <a:ext cx="82296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" y="1271016"/>
            <a:ext cx="75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CIUROX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1252728"/>
            <a:ext cx="246888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1271016"/>
            <a:ext cx="2404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</a:rPr>
              <a:t>Ready Accessories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" y="1554480"/>
            <a:ext cx="3291840" cy="2011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" y="1572768"/>
            <a:ext cx="32186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2. Data Requirement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" y="1755648"/>
            <a:ext cx="1508760" cy="192024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" y="1773936"/>
            <a:ext cx="1444751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Field Dashboard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1755648"/>
            <a:ext cx="1783080" cy="192024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91056" y="1773936"/>
            <a:ext cx="171907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" y="1947672"/>
            <a:ext cx="150876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" y="1965960"/>
            <a:ext cx="14447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Order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1947672"/>
            <a:ext cx="178308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91056" y="1965960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</a:rPr>
              <a:t>APS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" y="2185415"/>
            <a:ext cx="15087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" y="2203703"/>
            <a:ext cx="14447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Style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2185415"/>
            <a:ext cx="17830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91056" y="2203703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</a:rPr>
              <a:t>APS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" y="2423159"/>
            <a:ext cx="150876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" y="2441447"/>
            <a:ext cx="14447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Tgl. Delivery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54480" y="2423159"/>
            <a:ext cx="178308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91056" y="2441447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</a:rPr>
              <a:t>APS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" y="2660903"/>
            <a:ext cx="15087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" y="2679191"/>
            <a:ext cx="14447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Qty PDK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54480" y="2660903"/>
            <a:ext cx="17830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91056" y="2679191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</a:rPr>
              <a:t>APS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" y="2898647"/>
            <a:ext cx="150876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" y="2916935"/>
            <a:ext cx="14447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Qty IN &amp; OUT Panel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2898647"/>
            <a:ext cx="178308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91056" y="2916935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</a:rPr>
              <a:t>Engage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" y="3136391"/>
            <a:ext cx="15087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" y="3154679"/>
            <a:ext cx="14447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Qty Material Ready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54480" y="3136391"/>
            <a:ext cx="17830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91056" y="3154679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</a:rPr>
              <a:t>APS + Engage + CIUROX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" y="3374135"/>
            <a:ext cx="150876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" y="3392423"/>
            <a:ext cx="14447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Balance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54480" y="3374135"/>
            <a:ext cx="178308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91056" y="3392423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</a:rPr>
              <a:t>Calculation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" y="3611879"/>
            <a:ext cx="15087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" y="3630167"/>
            <a:ext cx="14447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Working Days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54480" y="3611879"/>
            <a:ext cx="17830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91056" y="3630167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</a:rPr>
              <a:t>Configured by SPV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" y="3849623"/>
            <a:ext cx="150876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" y="3867911"/>
            <a:ext cx="14447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Remaining Workdays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54480" y="3849623"/>
            <a:ext cx="178308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91056" y="3867911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</a:rPr>
              <a:t>Calculation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" y="4087367"/>
            <a:ext cx="15087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" y="4105655"/>
            <a:ext cx="14447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Capacity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54480" y="4087367"/>
            <a:ext cx="17830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91056" y="4105655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</a:rPr>
              <a:t>Calculation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01568" y="384048"/>
            <a:ext cx="3291840" cy="2011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47288" y="402336"/>
            <a:ext cx="32186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4. Scope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01568" y="585216"/>
            <a:ext cx="3291840" cy="192024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38144" y="603504"/>
            <a:ext cx="322783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01568" y="777240"/>
            <a:ext cx="329184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38144" y="795528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Material Ready Dashboard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01568" y="1014983"/>
            <a:ext cx="32918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38144" y="1033271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Heat Transfer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401568" y="1252728"/>
            <a:ext cx="329184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438144" y="1271016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Integrasi APS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01568" y="1490472"/>
            <a:ext cx="32918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38144" y="1508760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Integrasi Engage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401568" y="1728216"/>
            <a:ext cx="329184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38144" y="1746504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Integrasi CIUROX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01568" y="1965960"/>
            <a:ext cx="32918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438144" y="1984248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Capture Data (RPA Otomatis)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01568" y="2203704"/>
            <a:ext cx="329184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438144" y="2221992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Monitoring Material Ready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401568" y="2505456"/>
            <a:ext cx="3291840" cy="2011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447288" y="2523744"/>
            <a:ext cx="32186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3. User Requirement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401568" y="2706624"/>
            <a:ext cx="1005840" cy="192024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438144" y="2724912"/>
            <a:ext cx="94183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407408" y="2706624"/>
            <a:ext cx="2286000" cy="192024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443984" y="2724912"/>
            <a:ext cx="22219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Requirement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401568" y="2898648"/>
            <a:ext cx="100584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438144" y="2916936"/>
            <a:ext cx="941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Operator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07408" y="2898648"/>
            <a:ext cx="228600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43984" y="2916936"/>
            <a:ext cx="2221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</a:rPr>
              <a:t>Mengetahui hasil scan IN &amp; OUT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401568" y="3136391"/>
            <a:ext cx="10058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438144" y="3154679"/>
            <a:ext cx="941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Line Leader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407408" y="3136391"/>
            <a:ext cx="22860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443984" y="3154679"/>
            <a:ext cx="2221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</a:rPr>
              <a:t>Monitoring Output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401568" y="3374135"/>
            <a:ext cx="100584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438144" y="3392423"/>
            <a:ext cx="941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Supervisor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407408" y="3374135"/>
            <a:ext cx="228600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443984" y="3392423"/>
            <a:ext cx="2221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</a:rPr>
              <a:t>Monitoring Ready Material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01568" y="3611879"/>
            <a:ext cx="10058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438144" y="3630167"/>
            <a:ext cx="941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Planner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407408" y="3611879"/>
            <a:ext cx="22860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443984" y="3630167"/>
            <a:ext cx="2221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</a:rPr>
              <a:t>Planning Loading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401568" y="3849623"/>
            <a:ext cx="100584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438144" y="3867911"/>
            <a:ext cx="941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A1A2E"/>
                </a:solidFill>
              </a:rPr>
              <a:t>Management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407408" y="3849623"/>
            <a:ext cx="2286000" cy="237744"/>
          </a:xfrm>
          <a:prstGeom prst="rect">
            <a:avLst/>
          </a:prstGeom>
          <a:solidFill>
            <a:srgbClr val="F4F6F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443984" y="3867911"/>
            <a:ext cx="2221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</a:rPr>
              <a:t>Summary Dashboard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784848" y="384048"/>
            <a:ext cx="2651760" cy="2286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830568" y="402336"/>
            <a:ext cx="2578608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2E"/>
                </a:solidFill>
              </a:rPr>
              <a:t>Existing Flow</a:t>
            </a:r>
          </a:p>
        </p:txBody>
      </p:sp>
      <p:sp>
        <p:nvSpPr>
          <p:cNvPr id="114" name="Oval 113"/>
          <p:cNvSpPr/>
          <p:nvPr/>
        </p:nvSpPr>
        <p:spPr>
          <a:xfrm>
            <a:off x="7333488" y="676656"/>
            <a:ext cx="1554480" cy="274320"/>
          </a:xfrm>
          <a:prstGeom prst="ellipse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Start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8110727" y="950976"/>
            <a:ext cx="0" cy="82296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/>
          <p:cNvSpPr/>
          <p:nvPr/>
        </p:nvSpPr>
        <p:spPr>
          <a:xfrm>
            <a:off x="7333488" y="1033272"/>
            <a:ext cx="1554480" cy="274320"/>
          </a:xfrm>
          <a:prstGeom prst="rect">
            <a:avLst/>
          </a:prstGeom>
          <a:solidFill>
            <a:srgbClr val="C8E6C9"/>
          </a:solidFill>
          <a:ln w="6350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>
                <a:solidFill>
                  <a:srgbClr val="1A1A2E"/>
                </a:solidFill>
              </a:rPr>
              <a:t>Operator scan Material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8110727" y="1307592"/>
            <a:ext cx="0" cy="82296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7333488" y="1389888"/>
            <a:ext cx="1554480" cy="274320"/>
          </a:xfrm>
          <a:prstGeom prst="rect">
            <a:avLst/>
          </a:prstGeom>
          <a:solidFill>
            <a:srgbClr val="C8E6C9"/>
          </a:solidFill>
          <a:ln w="6350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>
                <a:solidFill>
                  <a:srgbClr val="1A1A2E"/>
                </a:solidFill>
              </a:rPr>
              <a:t>Operator login APS &amp; download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8110727" y="1664208"/>
            <a:ext cx="0" cy="82296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7333488" y="1746504"/>
            <a:ext cx="1554480" cy="274320"/>
          </a:xfrm>
          <a:prstGeom prst="rect">
            <a:avLst/>
          </a:prstGeom>
          <a:solidFill>
            <a:srgbClr val="C8E6C9"/>
          </a:solidFill>
          <a:ln w="6350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>
                <a:solidFill>
                  <a:srgbClr val="1A1A2E"/>
                </a:solidFill>
              </a:rPr>
              <a:t>Operator login Engage &amp; download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8110727" y="2020824"/>
            <a:ext cx="0" cy="82296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7333488" y="2103120"/>
            <a:ext cx="1554480" cy="274320"/>
          </a:xfrm>
          <a:prstGeom prst="rect">
            <a:avLst/>
          </a:prstGeom>
          <a:solidFill>
            <a:srgbClr val="C8E6C9"/>
          </a:solidFill>
          <a:ln w="6350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>
                <a:solidFill>
                  <a:srgbClr val="1A1A2E"/>
                </a:solidFill>
              </a:rPr>
              <a:t>Tunggu Email Controlist Accessories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8110727" y="2377440"/>
            <a:ext cx="0" cy="82296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>
            <a:off x="7333488" y="2459736"/>
            <a:ext cx="1554480" cy="274320"/>
          </a:xfrm>
          <a:prstGeom prst="rect">
            <a:avLst/>
          </a:prstGeom>
          <a:solidFill>
            <a:srgbClr val="C8E6C9"/>
          </a:solidFill>
          <a:ln w="6350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>
                <a:solidFill>
                  <a:srgbClr val="1A1A2E"/>
                </a:solidFill>
              </a:rPr>
              <a:t>Pengolahan &amp; Rekap Data di Excel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8110727" y="2734056"/>
            <a:ext cx="0" cy="82295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7333488" y="2816351"/>
            <a:ext cx="1554480" cy="274320"/>
          </a:xfrm>
          <a:prstGeom prst="rect">
            <a:avLst/>
          </a:prstGeom>
          <a:solidFill>
            <a:srgbClr val="C8E6C9"/>
          </a:solidFill>
          <a:ln w="6350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>
                <a:solidFill>
                  <a:srgbClr val="1A1A2E"/>
                </a:solidFill>
              </a:rPr>
              <a:t>Kirim Laporan ke Supervisor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8110727" y="3090671"/>
            <a:ext cx="0" cy="82296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Diamond 127"/>
          <p:cNvSpPr/>
          <p:nvPr/>
        </p:nvSpPr>
        <p:spPr>
          <a:xfrm>
            <a:off x="7333488" y="3172967"/>
            <a:ext cx="1554480" cy="274320"/>
          </a:xfrm>
          <a:prstGeom prst="diamond">
            <a:avLst/>
          </a:prstGeom>
          <a:solidFill>
            <a:srgbClr val="C8E6C9"/>
          </a:solidFill>
          <a:ln w="6350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i="1">
                <a:solidFill>
                  <a:srgbClr val="1A1A2E"/>
                </a:solidFill>
              </a:rPr>
              <a:t>verifikasi data?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8110727" y="3447287"/>
            <a:ext cx="0" cy="82296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7333488" y="3529583"/>
            <a:ext cx="1554480" cy="274320"/>
          </a:xfrm>
          <a:prstGeom prst="rect">
            <a:avLst/>
          </a:prstGeom>
          <a:solidFill>
            <a:srgbClr val="C8E6C9"/>
          </a:solidFill>
          <a:ln w="6350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>
                <a:solidFill>
                  <a:srgbClr val="1A1A2E"/>
                </a:solidFill>
              </a:rPr>
              <a:t>Operator Laporan ke Bagiannya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8110727" y="3803903"/>
            <a:ext cx="0" cy="82296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7333488" y="3886199"/>
            <a:ext cx="1554480" cy="274320"/>
          </a:xfrm>
          <a:prstGeom prst="rect">
            <a:avLst/>
          </a:prstGeom>
          <a:solidFill>
            <a:srgbClr val="C8E6C9"/>
          </a:solidFill>
          <a:ln w="6350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>
                <a:solidFill>
                  <a:srgbClr val="1A1A2E"/>
                </a:solidFill>
              </a:rPr>
              <a:t>Supervisor &amp; Planning Review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8110727" y="4160519"/>
            <a:ext cx="0" cy="82296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Oval 133"/>
          <p:cNvSpPr/>
          <p:nvPr/>
        </p:nvSpPr>
        <p:spPr>
          <a:xfrm>
            <a:off x="7333488" y="4242815"/>
            <a:ext cx="1554480" cy="274320"/>
          </a:xfrm>
          <a:prstGeom prst="ellipse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Finish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830568" y="2980943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888888"/>
                </a:solidFill>
              </a:rPr>
              <a:t>No →  (loop kembali)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528048" y="384048"/>
            <a:ext cx="2587752" cy="228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573768" y="402336"/>
            <a:ext cx="25146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Proposed Flow</a:t>
            </a:r>
          </a:p>
        </p:txBody>
      </p:sp>
      <p:sp>
        <p:nvSpPr>
          <p:cNvPr id="138" name="Oval 137"/>
          <p:cNvSpPr/>
          <p:nvPr/>
        </p:nvSpPr>
        <p:spPr>
          <a:xfrm>
            <a:off x="10044684" y="676656"/>
            <a:ext cx="1554480" cy="347472"/>
          </a:xfrm>
          <a:prstGeom prst="ellipse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Start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10821924" y="1024128"/>
            <a:ext cx="0" cy="91440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/>
          <p:cNvSpPr/>
          <p:nvPr/>
        </p:nvSpPr>
        <p:spPr>
          <a:xfrm>
            <a:off x="10044684" y="1115568"/>
            <a:ext cx="1554480" cy="347472"/>
          </a:xfrm>
          <a:prstGeom prst="rect">
            <a:avLst/>
          </a:prstGeom>
          <a:solidFill>
            <a:srgbClr val="C8E6C9"/>
          </a:solidFill>
          <a:ln w="6350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>
                <a:solidFill>
                  <a:srgbClr val="1A1A2E"/>
                </a:solidFill>
              </a:rPr>
              <a:t>Operator scan Material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10821924" y="1463040"/>
            <a:ext cx="0" cy="91440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ectangle 141"/>
          <p:cNvSpPr/>
          <p:nvPr/>
        </p:nvSpPr>
        <p:spPr>
          <a:xfrm>
            <a:off x="10044684" y="1554480"/>
            <a:ext cx="1554480" cy="347472"/>
          </a:xfrm>
          <a:prstGeom prst="rect">
            <a:avLst/>
          </a:prstGeom>
          <a:solidFill>
            <a:srgbClr val="BBDEFB"/>
          </a:solidFill>
          <a:ln w="6350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>
                <a:solidFill>
                  <a:srgbClr val="1A1A2E"/>
                </a:solidFill>
              </a:rPr>
              <a:t>Automated Data Capture
&amp; Integration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10821924" y="1901952"/>
            <a:ext cx="0" cy="91440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ectangle 143"/>
          <p:cNvSpPr/>
          <p:nvPr/>
        </p:nvSpPr>
        <p:spPr>
          <a:xfrm>
            <a:off x="10044684" y="1993392"/>
            <a:ext cx="1554480" cy="347472"/>
          </a:xfrm>
          <a:prstGeom prst="rect">
            <a:avLst/>
          </a:prstGeom>
          <a:solidFill>
            <a:srgbClr val="BBDEFB"/>
          </a:solidFill>
          <a:ln w="6350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>
                <a:solidFill>
                  <a:srgbClr val="1A1A2E"/>
                </a:solidFill>
              </a:rPr>
              <a:t>Database &amp; Data Cleansing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10821924" y="2340864"/>
            <a:ext cx="0" cy="91440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10044684" y="2432304"/>
            <a:ext cx="1554480" cy="347472"/>
          </a:xfrm>
          <a:prstGeom prst="rect">
            <a:avLst/>
          </a:prstGeom>
          <a:solidFill>
            <a:srgbClr val="BBDEFB"/>
          </a:solidFill>
          <a:ln w="6350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>
                <a:solidFill>
                  <a:srgbClr val="1A1A2E"/>
                </a:solidFill>
              </a:rPr>
              <a:t>Web Dashboard &amp; Analytics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10821924" y="2779776"/>
            <a:ext cx="0" cy="91440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ctangle 147"/>
          <p:cNvSpPr/>
          <p:nvPr/>
        </p:nvSpPr>
        <p:spPr>
          <a:xfrm>
            <a:off x="10044684" y="2871216"/>
            <a:ext cx="1554480" cy="347472"/>
          </a:xfrm>
          <a:prstGeom prst="rect">
            <a:avLst/>
          </a:prstGeom>
          <a:solidFill>
            <a:srgbClr val="C8E6C9"/>
          </a:solidFill>
          <a:ln w="6350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>
                <a:solidFill>
                  <a:srgbClr val="1A1A2E"/>
                </a:solidFill>
              </a:rPr>
              <a:t>Supervisor &amp; Planning Review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10821924" y="3218688"/>
            <a:ext cx="0" cy="91440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Oval 149"/>
          <p:cNvSpPr/>
          <p:nvPr/>
        </p:nvSpPr>
        <p:spPr>
          <a:xfrm>
            <a:off x="10044684" y="3310128"/>
            <a:ext cx="1554480" cy="347472"/>
          </a:xfrm>
          <a:prstGeom prst="ellipse">
            <a:avLst/>
          </a:prstGeom>
          <a:solidFill>
            <a:srgbClr val="1E3A5F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Finish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528048" y="6537960"/>
            <a:ext cx="2587752" cy="256032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601200" y="656539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E3A5F"/>
                </a:solidFill>
              </a:rPr>
              <a:t>Notes: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287000" y="6592824"/>
            <a:ext cx="164592" cy="128016"/>
          </a:xfrm>
          <a:prstGeom prst="rect">
            <a:avLst/>
          </a:prstGeom>
          <a:solidFill>
            <a:srgbClr val="C8E6C9"/>
          </a:solidFill>
          <a:ln w="5080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488168" y="657453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</a:rPr>
              <a:t>Human Process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155680" y="6592824"/>
            <a:ext cx="164592" cy="128016"/>
          </a:xfrm>
          <a:prstGeom prst="rect">
            <a:avLst/>
          </a:prstGeom>
          <a:solidFill>
            <a:srgbClr val="BBDEFB"/>
          </a:solidFill>
          <a:ln w="5080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356848" y="657453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2E"/>
                </a:solidFill>
              </a:rPr>
              <a:t>System Process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3355848" y="384048"/>
            <a:ext cx="0" cy="6428232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6739128" y="384048"/>
            <a:ext cx="0" cy="6428232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9482328" y="384048"/>
            <a:ext cx="0" cy="6428232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