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3"/>
    <p:sldId id="265" r:id="rId4"/>
    <p:sldId id="257" r:id="rId5"/>
    <p:sldId id="264" r:id="rId6"/>
    <p:sldId id="266" r:id="rId7"/>
    <p:sldId id="259" r:id="rId8"/>
    <p:sldId id="258" r:id="rId9"/>
    <p:sldId id="261" r:id="rId11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4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601"/>
    <a:srgbClr val="FF8B00"/>
    <a:srgbClr val="F0E78C"/>
    <a:srgbClr val="00A2E0"/>
    <a:srgbClr val="015B97"/>
    <a:srgbClr val="4E9D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314"/>
        <p:guide pos="2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01"/>
                </a:solidFill>
              </a:rPr>
              <a:t>IRL 3</a:t>
            </a:r>
            <a:endParaRPr sz="1600" b="1" i="0">
              <a:solidFill>
                <a:srgbClr val="F5A60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Konsep Dashboard Material Ready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Diskusi dengan: Production | IE | ME</a:t>
            </a:r>
            <a:r>
              <a:rPr lang="en-US" sz="1600" b="0" i="0">
                <a:solidFill>
                  <a:srgbClr val="FFFFFF"/>
                </a:solidFill>
              </a:rPr>
              <a:t> | Accessories</a:t>
            </a:r>
            <a:endParaRPr lang="en-US" sz="1600" b="0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914400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0">
                <a:solidFill>
                  <a:srgbClr val="F5A601"/>
                </a:solidFill>
              </a:rPr>
              <a:t>Tujuan: Membangun satu layar pemantauan otomatis untuk semua kebutuhan data produksi.</a:t>
            </a:r>
            <a:endParaRPr sz="1200" b="0" i="0">
              <a:solidFill>
                <a:srgbClr val="F5A60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-9525" y="635"/>
            <a:ext cx="12198985" cy="636905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3975"/>
            <a:ext cx="29622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2400" b="1" i="0">
                <a:solidFill>
                  <a:srgbClr val="FFFFFF"/>
                </a:solidFill>
              </a:rPr>
              <a:t>LATAR BELAKANG</a:t>
            </a:r>
            <a:endParaRPr lang="en-US" altLang="en-US" sz="24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Material Ready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0" y="6665976"/>
            <a:ext cx="64008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50" b="0" i="0">
                <a:solidFill>
                  <a:srgbClr val="8899AA"/>
                </a:solidFill>
              </a:rPr>
              <a:t>1 / 6</a:t>
            </a:r>
            <a:endParaRPr lang="en-US" sz="750" b="0" i="0">
              <a:solidFill>
                <a:srgbClr val="8899AA"/>
              </a:solidFill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368935" y="849630"/>
            <a:ext cx="3552825" cy="5594350"/>
            <a:chOff x="695" y="1338"/>
            <a:chExt cx="4905" cy="8810"/>
          </a:xfrm>
        </p:grpSpPr>
        <p:sp>
          <p:nvSpPr>
            <p:cNvPr id="56" name="Rounded Rectangle 55"/>
            <p:cNvSpPr/>
            <p:nvPr/>
          </p:nvSpPr>
          <p:spPr>
            <a:xfrm>
              <a:off x="696" y="1338"/>
              <a:ext cx="4904" cy="8810"/>
            </a:xfrm>
            <a:prstGeom prst="roundRect">
              <a:avLst/>
            </a:prstGeom>
            <a:ln>
              <a:solidFill>
                <a:srgbClr val="00A2E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en-US"/>
            </a:p>
          </p:txBody>
        </p:sp>
        <p:sp>
          <p:nvSpPr>
            <p:cNvPr id="57" name="Top Corners Rounded Rectangle 56"/>
            <p:cNvSpPr/>
            <p:nvPr/>
          </p:nvSpPr>
          <p:spPr>
            <a:xfrm>
              <a:off x="695" y="1338"/>
              <a:ext cx="4905" cy="1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A2E0"/>
            </a:solidFill>
            <a:ln>
              <a:solidFill>
                <a:srgbClr val="00A2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pPr algn="ctr"/>
              <a:r>
                <a:rPr lang="en-US" altLang="en-US" sz="3200" b="1"/>
                <a:t>MASALAH</a:t>
              </a:r>
              <a:endParaRPr lang="en-US" altLang="en-US" sz="3200" b="1"/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487680" y="1725295"/>
            <a:ext cx="3300095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Data Tersebar</a:t>
            </a:r>
            <a:endParaRPr sz="1600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sz="1600" b="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Informasi kesiapan material masih berada di beberapa sistem terpisah, sehingga membutuhkan waktu lama untuk pengecekan dan rekapitulasi.</a:t>
            </a:r>
            <a:endParaRPr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Perubahan Status yang Cepat</a:t>
            </a:r>
            <a:endParaRPr sz="1600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sz="1600" b="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Status material berubah setiap hari, sehingga laporan manual/statis cepat kedaluwarsa dan tidak mencerminkan kondisi riil lapangan.</a:t>
            </a:r>
            <a:endParaRPr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4363720" y="796925"/>
            <a:ext cx="3552825" cy="5594350"/>
            <a:chOff x="695" y="1338"/>
            <a:chExt cx="4905" cy="8810"/>
          </a:xfrm>
        </p:grpSpPr>
        <p:sp>
          <p:nvSpPr>
            <p:cNvPr id="30" name="Rounded Rectangle 29"/>
            <p:cNvSpPr/>
            <p:nvPr/>
          </p:nvSpPr>
          <p:spPr>
            <a:xfrm>
              <a:off x="696" y="1338"/>
              <a:ext cx="4904" cy="8810"/>
            </a:xfrm>
            <a:prstGeom prst="roundRect">
              <a:avLst/>
            </a:prstGeom>
            <a:ln>
              <a:solidFill>
                <a:srgbClr val="015B97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en-US"/>
            </a:p>
          </p:txBody>
        </p:sp>
        <p:sp>
          <p:nvSpPr>
            <p:cNvPr id="42" name="Top Corners Rounded Rectangle 41"/>
            <p:cNvSpPr/>
            <p:nvPr/>
          </p:nvSpPr>
          <p:spPr>
            <a:xfrm>
              <a:off x="695" y="1338"/>
              <a:ext cx="4905" cy="1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15B97"/>
            </a:solidFill>
            <a:ln>
              <a:solidFill>
                <a:srgbClr val="015B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pPr algn="ctr"/>
              <a:r>
                <a:rPr lang="en-US" sz="3200" b="1"/>
                <a:t>RISIKO</a:t>
              </a:r>
              <a:endParaRPr lang="en-US" sz="3200" b="1"/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4511675" y="1744345"/>
            <a:ext cx="3300095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Gangguan Delivery</a:t>
            </a:r>
            <a:endParaRPr lang="en-US" altLang="en-US"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600" b="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Order yang belum siap (not ready) berpotensi besar mengacaukan jadwal pengiriman (delivery).</a:t>
            </a:r>
            <a:endParaRPr lang="en-US" altLang="en-US"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Kerugian Operasional</a:t>
            </a:r>
            <a:endParaRPr lang="en-US" altLang="en-US" sz="1600" b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600" b="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Keterlambatan kesiapan material mengakibatkan proses produksi tertunda, kapasitas lini tidak terpakai maksimal, dan jadwal produksi harus diatur ulang secara mendadak.</a:t>
            </a:r>
            <a:endParaRPr lang="en-US" altLang="en-US"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8367395" y="796925"/>
            <a:ext cx="3552825" cy="5594350"/>
            <a:chOff x="695" y="1338"/>
            <a:chExt cx="4905" cy="8810"/>
          </a:xfrm>
        </p:grpSpPr>
        <p:sp>
          <p:nvSpPr>
            <p:cNvPr id="52" name="Rounded Rectangle 51"/>
            <p:cNvSpPr/>
            <p:nvPr/>
          </p:nvSpPr>
          <p:spPr>
            <a:xfrm>
              <a:off x="696" y="1338"/>
              <a:ext cx="4904" cy="8810"/>
            </a:xfrm>
            <a:prstGeom prst="roundRect">
              <a:avLst/>
            </a:prstGeom>
            <a:ln>
              <a:solidFill>
                <a:srgbClr val="FF8B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en-US"/>
            </a:p>
          </p:txBody>
        </p:sp>
        <p:sp>
          <p:nvSpPr>
            <p:cNvPr id="53" name="Top Corners Rounded Rectangle 52"/>
            <p:cNvSpPr/>
            <p:nvPr/>
          </p:nvSpPr>
          <p:spPr>
            <a:xfrm>
              <a:off x="695" y="1338"/>
              <a:ext cx="4905" cy="1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8B00"/>
            </a:solidFill>
            <a:ln>
              <a:solidFill>
                <a:srgbClr val="FF8B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pPr algn="ctr"/>
              <a:r>
                <a:rPr lang="en-US" altLang="en-US" sz="3200" b="1"/>
                <a:t>KEBUTUHAN</a:t>
              </a:r>
              <a:endParaRPr lang="en-US" altLang="en-US" sz="3200" b="1"/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8512175" y="1737995"/>
            <a:ext cx="3423285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Penyajian Data Terpusat</a:t>
            </a:r>
            <a:endParaRPr lang="en-US" altLang="en-US"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600" b="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Dibutuhkan satu dashboard yang menampilkan kondisi seluruh material secara terpusat dan otomatis.</a:t>
            </a:r>
            <a:endParaRPr lang="en-US" altLang="en-US"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Kemudahan Pemantauan Prioritas</a:t>
            </a:r>
            <a:endParaRPr lang="en-US" altLang="en-US" sz="1600" b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600" b="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Tim Produksi dan Planning membutuhkan informasi yang cepat, jelas, dan mudah dipantau agar langsung mengetahui order mana yang sudah siap untuk segera diproses.</a:t>
            </a:r>
            <a:endParaRPr lang="en-US" altLang="en-US" sz="1600" b="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-9525" y="635"/>
            <a:ext cx="12198985" cy="636905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71755"/>
            <a:ext cx="4991735" cy="3848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altLang="en-US" sz="2400" b="1" i="0">
                <a:solidFill>
                  <a:srgbClr val="FFFFFF"/>
                </a:solidFill>
              </a:rPr>
              <a:t>ALUR KERJA &amp; MANFAAT</a:t>
            </a:r>
            <a:endParaRPr lang="en-US" altLang="en-US" sz="2400" b="1" i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Material Ready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30000" y="6665976"/>
            <a:ext cx="64008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50" b="0" i="0">
                <a:solidFill>
                  <a:srgbClr val="8899AA"/>
                </a:solidFill>
              </a:rPr>
              <a:t>2 / 6</a:t>
            </a:r>
            <a:endParaRPr lang="en-US" sz="750" b="0" i="0">
              <a:solidFill>
                <a:srgbClr val="8899AA"/>
              </a:solidFill>
            </a:endParaRPr>
          </a:p>
        </p:txBody>
      </p:sp>
      <p:pic>
        <p:nvPicPr>
          <p:cNvPr id="32" name="Picture 31"/>
          <p:cNvPicPr/>
          <p:nvPr/>
        </p:nvPicPr>
        <p:blipFill>
          <a:blip r:embed="rId1"/>
          <a:stretch>
            <a:fillRect/>
          </a:stretch>
        </p:blipFill>
        <p:spPr>
          <a:xfrm>
            <a:off x="182880" y="636905"/>
            <a:ext cx="2433320" cy="5955665"/>
          </a:xfrm>
          <a:prstGeom prst="rect">
            <a:avLst/>
          </a:prstGeom>
        </p:spPr>
      </p:pic>
      <p:pic>
        <p:nvPicPr>
          <p:cNvPr id="33" name="Content Placeholder 24"/>
          <p:cNvPicPr/>
          <p:nvPr/>
        </p:nvPicPr>
        <p:blipFill>
          <a:blip r:embed="rId2"/>
          <a:srcRect t="291" b="635"/>
          <a:stretch>
            <a:fillRect/>
          </a:stretch>
        </p:blipFill>
        <p:spPr>
          <a:xfrm>
            <a:off x="2987675" y="607695"/>
            <a:ext cx="2447290" cy="6033770"/>
          </a:xfrm>
          <a:prstGeom prst="rect">
            <a:avLst/>
          </a:prstGeom>
        </p:spPr>
      </p:pic>
      <p:graphicFrame>
        <p:nvGraphicFramePr>
          <p:cNvPr id="43" name="Table 42"/>
          <p:cNvGraphicFramePr/>
          <p:nvPr/>
        </p:nvGraphicFramePr>
        <p:xfrm>
          <a:off x="5894070" y="1172845"/>
          <a:ext cx="5761990" cy="40119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869565"/>
                <a:gridCol w="2892425"/>
              </a:tblGrid>
              <a:tr h="51244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dirty="0"/>
                        <a:t>Expected Benefits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298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/>
                        <a:t>Before</a:t>
                      </a:r>
                      <a:endParaRPr lang="en-US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/>
                        <a:t>After</a:t>
                      </a:r>
                      <a:endParaRPr lang="en-US" sz="1600" b="1"/>
                    </a:p>
                  </a:txBody>
                  <a:tcPr/>
                </a:tc>
              </a:tr>
              <a:tr h="106108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i="1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Manual Checking</a:t>
                      </a:r>
                      <a:endParaRPr lang="en-US" altLang="ko-KR" sz="1400" i="1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User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mencari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informasi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dari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beberapa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sumber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.</a:t>
                      </a:r>
                      <a:endParaRPr lang="en-US" altLang="ko-KR" sz="140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i="1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Single Dashboard</a:t>
                      </a:r>
                      <a:endParaRPr lang="en-US" altLang="ko-KR" sz="1400" i="1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Informasi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terlihat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dalam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satu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layar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.</a:t>
                      </a:r>
                      <a:endParaRPr lang="en-US" altLang="ko-KR" sz="140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/>
                </a:tc>
              </a:tr>
              <a:tr h="99822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i="1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Late Detection</a:t>
                      </a:r>
                      <a:endParaRPr kumimoji="0" lang="en-US" altLang="ko-KR" sz="1400" i="1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Informasi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diketahui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setelah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rekab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laporan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selesai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di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buat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.</a:t>
                      </a:r>
                      <a:endParaRPr lang="en-US" altLang="ko-KR" sz="140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i="1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Early Warning</a:t>
                      </a:r>
                      <a:endParaRPr lang="en-US" altLang="ko-KR" sz="1400" i="1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Informasi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dapat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diketahui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lebih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awal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untuk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follow-up.</a:t>
                      </a:r>
                      <a:endParaRPr lang="en-US" altLang="ko-KR" sz="140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/>
                </a:tc>
              </a:tr>
              <a:tr h="96837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i="1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Static Reporting</a:t>
                      </a:r>
                      <a:endParaRPr kumimoji="0" lang="en-US" altLang="ko-KR" sz="1400" i="1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Laporan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membutuhkan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rekap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dan update manual.</a:t>
                      </a:r>
                      <a:endParaRPr lang="en-US" altLang="ko-KR" sz="140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Faster Decision</a:t>
                      </a:r>
                      <a:endParaRPr lang="en-US" altLang="ko-KR" sz="140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User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memiliki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informasi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lebih</a:t>
                      </a:r>
                      <a:r>
                        <a:rPr lang="en-US" altLang="ko-KR" sz="140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40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cepat</a:t>
                      </a:r>
                      <a:r>
                        <a:rPr lang="en-US" altLang="ko-KR" sz="1400" dirty="0"/>
                        <a:t> dan </a:t>
                      </a:r>
                      <a:r>
                        <a:rPr lang="en-US" altLang="ko-KR" sz="1400" dirty="0" err="1"/>
                        <a:t>terupdate</a:t>
                      </a:r>
                      <a:r>
                        <a:rPr lang="en-US" altLang="ko-KR" sz="1400" dirty="0"/>
                        <a:t>.</a:t>
                      </a:r>
                      <a:endParaRPr lang="en-US" altLang="ko-KR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4" name="Content Placeholder 8"/>
          <p:cNvPicPr/>
          <p:nvPr/>
        </p:nvPicPr>
        <p:blipFill>
          <a:blip r:embed="rId3"/>
          <a:srcRect l="1081" r="8643"/>
          <a:stretch>
            <a:fillRect/>
          </a:stretch>
        </p:blipFill>
        <p:spPr>
          <a:xfrm>
            <a:off x="5806440" y="5615305"/>
            <a:ext cx="1082040" cy="83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-9525" y="635"/>
            <a:ext cx="12198985" cy="636905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3975"/>
            <a:ext cx="38481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2400" b="1" i="0">
                <a:solidFill>
                  <a:srgbClr val="FFFFFF"/>
                </a:solidFill>
              </a:rPr>
              <a:t>PEMETAAN SUMBER DATA</a:t>
            </a:r>
            <a:endParaRPr lang="en-US" altLang="en-US" sz="2400" b="1" i="0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2926080" cy="1371600"/>
          </a:xfrm>
          <a:prstGeom prst="roundRect">
            <a:avLst/>
          </a:prstGeom>
          <a:solidFill>
            <a:srgbClr val="00A2E0"/>
          </a:solidFill>
          <a:ln>
            <a:solidFill>
              <a:srgbClr val="00A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APS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926080" cy="628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Master Data Order
Target Produksi
Jadwal Pengiriman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2926080" cy="1371600"/>
          </a:xfrm>
          <a:prstGeom prst="roundRect">
            <a:avLst/>
          </a:prstGeom>
          <a:solidFill>
            <a:srgbClr val="F5A6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Engage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2926080" cy="4540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Stok Gudang (In/Out)
Output Aktual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2926080" cy="1371600"/>
          </a:xfrm>
          <a:prstGeom prst="roundRect">
            <a:avLst/>
          </a:prstGeom>
          <a:solidFill>
            <a:srgbClr val="01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CIUROX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2926080" cy="474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Status Kesiapan
Aksesoris (Completed)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43200" y="4046220"/>
            <a:ext cx="6583680" cy="16459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3891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5F"/>
                </a:solidFill>
              </a:rPr>
              <a:t>DASHBOARD MATERIAL READY</a:t>
            </a:r>
            <a:endParaRPr sz="2000" b="1" i="0">
              <a:solidFill>
                <a:srgbClr val="1E3A5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49377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Sistem melakukan pengolahan &amp; perhitungan secara otomatis di background.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Material Ready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0" y="6665976"/>
            <a:ext cx="64008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50" b="0" i="0">
                <a:solidFill>
                  <a:srgbClr val="8899AA"/>
                </a:solidFill>
              </a:rPr>
              <a:t>3 / 6</a:t>
            </a:r>
            <a:endParaRPr lang="en-US" sz="750" b="0" i="0">
              <a:solidFill>
                <a:srgbClr val="8899AA"/>
              </a:solidFill>
            </a:endParaRPr>
          </a:p>
        </p:txBody>
      </p:sp>
      <p:cxnSp>
        <p:nvCxnSpPr>
          <p:cNvPr id="27" name="Elbow Connector 26"/>
          <p:cNvCxnSpPr>
            <a:stCxn id="6" idx="2"/>
            <a:endCxn id="12" idx="2"/>
          </p:cNvCxnSpPr>
          <p:nvPr/>
        </p:nvCxnSpPr>
        <p:spPr>
          <a:xfrm rot="5400000" flipV="1">
            <a:off x="6035040" y="-914400"/>
            <a:ext cx="3175" cy="7315200"/>
          </a:xfrm>
          <a:prstGeom prst="bentConnector3">
            <a:avLst>
              <a:gd name="adj1" fmla="val 2017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9" idx="2"/>
            <a:endCxn id="16" idx="0"/>
          </p:cNvCxnSpPr>
          <p:nvPr/>
        </p:nvCxnSpPr>
        <p:spPr>
          <a:xfrm>
            <a:off x="6035040" y="2743200"/>
            <a:ext cx="0" cy="1303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0" name="Group 79"/>
          <p:cNvGrpSpPr/>
          <p:nvPr/>
        </p:nvGrpSpPr>
        <p:grpSpPr>
          <a:xfrm>
            <a:off x="7992110" y="640715"/>
            <a:ext cx="4122420" cy="5967730"/>
            <a:chOff x="102" y="1757"/>
            <a:chExt cx="12417" cy="8659"/>
          </a:xfrm>
        </p:grpSpPr>
        <p:sp>
          <p:nvSpPr>
            <p:cNvPr id="81" name="Rectangle 80"/>
            <p:cNvSpPr/>
            <p:nvPr/>
          </p:nvSpPr>
          <p:spPr>
            <a:xfrm>
              <a:off x="102" y="1757"/>
              <a:ext cx="12417" cy="8659"/>
            </a:xfrm>
            <a:prstGeom prst="rect">
              <a:avLst/>
            </a:prstGeom>
            <a:solidFill>
              <a:srgbClr val="ECEFF1"/>
            </a:solidFill>
            <a:ln w="12700">
              <a:solidFill>
                <a:srgbClr val="1E3A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02" y="1757"/>
              <a:ext cx="7920" cy="576"/>
            </a:xfrm>
            <a:prstGeom prst="rect">
              <a:avLst/>
            </a:prstGeom>
            <a:solidFill>
              <a:srgbClr val="015B97"/>
            </a:solidFill>
            <a:ln>
              <a:solidFill>
                <a:srgbClr val="015B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7"/>
            <p:cNvSpPr txBox="1"/>
            <p:nvPr/>
          </p:nvSpPr>
          <p:spPr>
            <a:xfrm>
              <a:off x="102" y="1808"/>
              <a:ext cx="7200" cy="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1" i="0">
                  <a:solidFill>
                    <a:srgbClr val="FFFFFF"/>
                  </a:solidFill>
                </a:rPr>
                <a:t>Rumus Tambahan</a:t>
              </a:r>
              <a:endParaRPr lang="en-US" sz="1400" b="1" i="0">
                <a:solidFill>
                  <a:srgbClr val="FFFFFF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-9525" y="635"/>
            <a:ext cx="12198985" cy="562610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-1905"/>
            <a:ext cx="3315335" cy="346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400" b="1" i="0">
                <a:solidFill>
                  <a:srgbClr val="FFFFFF"/>
                </a:solidFill>
              </a:rPr>
              <a:t>MOCKUP &amp; RUMUS</a:t>
            </a:r>
            <a:endParaRPr lang="en-US" sz="2400" b="1" i="0">
              <a:solidFill>
                <a:srgbClr val="FFFFFF"/>
              </a:solidFill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49530" y="640715"/>
            <a:ext cx="7884795" cy="5967784"/>
            <a:chOff x="102" y="1757"/>
            <a:chExt cx="12417" cy="8659"/>
          </a:xfrm>
        </p:grpSpPr>
        <p:sp>
          <p:nvSpPr>
            <p:cNvPr id="6" name="Rectangle 5"/>
            <p:cNvSpPr/>
            <p:nvPr/>
          </p:nvSpPr>
          <p:spPr>
            <a:xfrm>
              <a:off x="102" y="1757"/>
              <a:ext cx="12417" cy="8659"/>
            </a:xfrm>
            <a:prstGeom prst="rect">
              <a:avLst/>
            </a:prstGeom>
            <a:solidFill>
              <a:srgbClr val="ECEFF1"/>
            </a:solidFill>
            <a:ln w="12700">
              <a:solidFill>
                <a:srgbClr val="1E3A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2" y="1757"/>
              <a:ext cx="7920" cy="576"/>
            </a:xfrm>
            <a:prstGeom prst="rect">
              <a:avLst/>
            </a:prstGeom>
            <a:solidFill>
              <a:srgbClr val="015B97"/>
            </a:solidFill>
            <a:ln>
              <a:solidFill>
                <a:srgbClr val="015B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" y="1765"/>
              <a:ext cx="2836" cy="48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/>
              <a:r>
                <a:rPr sz="1400" b="1" i="0">
                  <a:solidFill>
                    <a:srgbClr val="FFFFFF"/>
                  </a:solidFill>
                </a:rPr>
                <a:t>Mockup Dashboard</a:t>
              </a:r>
              <a:endParaRPr sz="1400" b="1" i="0">
                <a:solidFill>
                  <a:srgbClr val="FFFFFF"/>
                </a:solidFill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1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Material Ready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430000" y="6665976"/>
            <a:ext cx="64008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50" b="0" i="0">
                <a:solidFill>
                  <a:srgbClr val="8899AA"/>
                </a:solidFill>
              </a:rPr>
              <a:t>4 </a:t>
            </a:r>
            <a:r>
              <a:rPr sz="750" b="0" i="0">
                <a:solidFill>
                  <a:srgbClr val="8899AA"/>
                </a:solidFill>
              </a:rPr>
              <a:t>/ </a:t>
            </a:r>
            <a:r>
              <a:rPr lang="en-US" sz="750" b="0" i="0">
                <a:solidFill>
                  <a:srgbClr val="8899AA"/>
                </a:solidFill>
              </a:rPr>
              <a:t>6</a:t>
            </a:r>
            <a:endParaRPr lang="en-US" sz="750" b="0" i="0">
              <a:solidFill>
                <a:srgbClr val="8899AA"/>
              </a:solidFill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1"/>
          <a:srcRect r="-479" b="-3488"/>
          <a:stretch>
            <a:fillRect/>
          </a:stretch>
        </p:blipFill>
        <p:spPr>
          <a:xfrm>
            <a:off x="121920" y="1613535"/>
            <a:ext cx="7739380" cy="4123055"/>
          </a:xfrm>
          <a:prstGeom prst="rect">
            <a:avLst/>
          </a:prstGeom>
        </p:spPr>
      </p:pic>
      <p:sp>
        <p:nvSpPr>
          <p:cNvPr id="44" name="TextBox 7"/>
          <p:cNvSpPr txBox="1"/>
          <p:nvPr/>
        </p:nvSpPr>
        <p:spPr>
          <a:xfrm>
            <a:off x="5867400" y="6297295"/>
            <a:ext cx="19939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1">
                <a:solidFill>
                  <a:schemeClr val="tx1"/>
                </a:solidFill>
              </a:rPr>
              <a:t>***Mockup ini hanya Sample.</a:t>
            </a:r>
            <a:endParaRPr lang="en-US" sz="1100" b="1" i="1">
              <a:solidFill>
                <a:schemeClr val="tx1"/>
              </a:solidFill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013700" y="1111885"/>
            <a:ext cx="4182745" cy="829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sym typeface="+mn-ea"/>
              </a:rPr>
              <a:t>QTY YANG KURANG </a:t>
            </a:r>
            <a: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(APS)</a:t>
            </a:r>
            <a:b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</a:br>
            <a:r>
              <a:rPr lang="en-US" sz="1100" i="1" dirty="0" err="1">
                <a:solidFill>
                  <a:schemeClr val="tx1"/>
                </a:solidFill>
                <a:sym typeface="+mn-ea"/>
              </a:rPr>
              <a:t>Menampilkan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total qty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kebutuhan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PDK yang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kurang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berdasarkan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tiap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delivery.</a:t>
            </a:r>
            <a:endParaRPr lang="en-US" sz="1100" i="1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olidFill>
                  <a:schemeClr val="tx1"/>
                </a:solidFill>
                <a:sym typeface="+mn-ea"/>
              </a:rPr>
              <a:t>Rumus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: Qty PDK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tiap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Delivery – Qty total Output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tiap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Delivery 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cs typeface="+mn-cs"/>
              <a:sym typeface="+mn-ea"/>
            </a:endParaRPr>
          </a:p>
        </p:txBody>
      </p:sp>
      <p:sp>
        <p:nvSpPr>
          <p:cNvPr id="57" name="TextBox 30"/>
          <p:cNvSpPr txBox="1"/>
          <p:nvPr/>
        </p:nvSpPr>
        <p:spPr>
          <a:xfrm>
            <a:off x="8010525" y="2341880"/>
            <a:ext cx="3997960" cy="843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  <a:sym typeface="+mn-ea"/>
              </a:rPr>
              <a:t>SISA HARI KERJA </a:t>
            </a:r>
            <a:endParaRPr lang="en-US" altLang="ko-KR" sz="1100" b="1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  <a:sym typeface="+mn-ea"/>
            </a:endParaRPr>
          </a:p>
          <a:p>
            <a:pPr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1100" i="1" dirty="0" err="1">
                <a:solidFill>
                  <a:schemeClr val="tx1"/>
                </a:solidFill>
                <a:sym typeface="+mn-ea"/>
              </a:rPr>
              <a:t>Menampilkan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informasi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sisa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hari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untuk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menyelesaikan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full qty (-14).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olidFill>
                  <a:schemeClr val="tx1"/>
                </a:solidFill>
                <a:sym typeface="+mn-ea"/>
              </a:rPr>
              <a:t>Rumus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: Di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atur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oleh SPV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cs typeface="+mn-cs"/>
              <a:sym typeface="+mn-ea"/>
            </a:endParaRPr>
          </a:p>
        </p:txBody>
      </p:sp>
      <p:sp>
        <p:nvSpPr>
          <p:cNvPr id="59" name="TextBox 34"/>
          <p:cNvSpPr txBox="1"/>
          <p:nvPr/>
        </p:nvSpPr>
        <p:spPr>
          <a:xfrm>
            <a:off x="8001000" y="3298825"/>
            <a:ext cx="4019550" cy="85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sym typeface="+mn-ea"/>
              </a:rPr>
              <a:t>KAPASITAS</a:t>
            </a:r>
            <a:b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</a:br>
            <a:r>
              <a:rPr lang="en-US" sz="1100" i="1" dirty="0" err="1">
                <a:solidFill>
                  <a:schemeClr val="tx1"/>
                </a:solidFill>
                <a:sym typeface="+mn-ea"/>
              </a:rPr>
              <a:t>Menampilkan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jumlah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qty yang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harus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di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selesaikan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per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hari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.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olidFill>
                  <a:schemeClr val="tx1"/>
                </a:solidFill>
                <a:sym typeface="+mn-ea"/>
              </a:rPr>
              <a:t>Rumus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: Balance qty /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sisa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hari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kerja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( Angka )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cs typeface="+mn-cs"/>
              <a:sym typeface="+mn-ea"/>
            </a:endParaRPr>
          </a:p>
        </p:txBody>
      </p:sp>
      <p:sp>
        <p:nvSpPr>
          <p:cNvPr id="61" name="TextBox 72"/>
          <p:cNvSpPr txBox="1"/>
          <p:nvPr/>
        </p:nvSpPr>
        <p:spPr>
          <a:xfrm>
            <a:off x="7983855" y="4281805"/>
            <a:ext cx="406463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  <a:sym typeface="+mn-ea"/>
              </a:rPr>
              <a:t>DIRECT</a:t>
            </a:r>
            <a:b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</a:br>
            <a:r>
              <a:rPr lang="en-US" sz="1100" i="1" dirty="0" err="1">
                <a:solidFill>
                  <a:schemeClr val="tx1"/>
                </a:solidFill>
                <a:sym typeface="+mn-ea"/>
              </a:rPr>
              <a:t>Menampilkan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kebutuhan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operator per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hari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sesuai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kapasitas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.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olidFill>
                  <a:schemeClr val="tx1"/>
                </a:solidFill>
                <a:sym typeface="+mn-ea"/>
              </a:rPr>
              <a:t>Rumus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: a = (1*60/SMV(style))*jam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kerja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>
                <a:solidFill>
                  <a:schemeClr val="tx1"/>
                </a:solidFill>
                <a:sym typeface="+mn-ea"/>
              </a:rPr>
              <a:t>               b=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kapasitas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/ a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cs typeface="+mn-cs"/>
              <a:sym typeface="+mn-ea"/>
            </a:endParaRPr>
          </a:p>
        </p:txBody>
      </p:sp>
      <p:sp>
        <p:nvSpPr>
          <p:cNvPr id="63" name="TextBox 76"/>
          <p:cNvSpPr txBox="1"/>
          <p:nvPr/>
        </p:nvSpPr>
        <p:spPr>
          <a:xfrm>
            <a:off x="8006715" y="5553075"/>
            <a:ext cx="4001770" cy="923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  <a:sym typeface="+mn-ea"/>
              </a:rPr>
              <a:t>STYLE &amp; SMV</a:t>
            </a:r>
            <a:endParaRPr lang="en-US" sz="1100" i="1" dirty="0" err="1">
              <a:sym typeface="+mn-ea"/>
            </a:endParaRPr>
          </a:p>
          <a:p>
            <a:pPr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1100" i="1" dirty="0" err="1">
                <a:solidFill>
                  <a:schemeClr val="tx1"/>
                </a:solidFill>
                <a:sym typeface="+mn-ea"/>
              </a:rPr>
              <a:t>Menampilkan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Style dan SMV yang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berjalan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.</a:t>
            </a:r>
            <a:endParaRPr lang="en-US" sz="1100" i="1" dirty="0">
              <a:solidFill>
                <a:schemeClr val="tx1"/>
              </a:solidFill>
            </a:endParaRPr>
          </a:p>
          <a:p>
            <a:pPr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1100" i="1" dirty="0" err="1">
                <a:solidFill>
                  <a:schemeClr val="tx1"/>
                </a:solidFill>
                <a:sym typeface="+mn-ea"/>
              </a:rPr>
              <a:t>Rumus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: Di </a:t>
            </a:r>
            <a:r>
              <a:rPr lang="en-US" sz="1100" i="1" dirty="0" err="1">
                <a:solidFill>
                  <a:schemeClr val="tx1"/>
                </a:solidFill>
                <a:sym typeface="+mn-ea"/>
              </a:rPr>
              <a:t>atur</a:t>
            </a:r>
            <a:r>
              <a:rPr lang="en-US" sz="1100" i="1" dirty="0">
                <a:solidFill>
                  <a:schemeClr val="tx1"/>
                </a:solidFill>
                <a:sym typeface="+mn-ea"/>
              </a:rPr>
              <a:t> oleh SPV( Angka )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0" name="Group 79"/>
          <p:cNvGrpSpPr/>
          <p:nvPr/>
        </p:nvGrpSpPr>
        <p:grpSpPr>
          <a:xfrm>
            <a:off x="7992110" y="640715"/>
            <a:ext cx="4122420" cy="5967730"/>
            <a:chOff x="102" y="1757"/>
            <a:chExt cx="12417" cy="8659"/>
          </a:xfrm>
        </p:grpSpPr>
        <p:sp>
          <p:nvSpPr>
            <p:cNvPr id="81" name="Rectangle 80"/>
            <p:cNvSpPr/>
            <p:nvPr/>
          </p:nvSpPr>
          <p:spPr>
            <a:xfrm>
              <a:off x="102" y="1757"/>
              <a:ext cx="12417" cy="8659"/>
            </a:xfrm>
            <a:prstGeom prst="rect">
              <a:avLst/>
            </a:prstGeom>
            <a:solidFill>
              <a:srgbClr val="ECEFF1"/>
            </a:solidFill>
            <a:ln w="12700">
              <a:solidFill>
                <a:srgbClr val="1E3A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02" y="1757"/>
              <a:ext cx="7920" cy="576"/>
            </a:xfrm>
            <a:prstGeom prst="rect">
              <a:avLst/>
            </a:prstGeom>
            <a:solidFill>
              <a:srgbClr val="015B97"/>
            </a:solidFill>
            <a:ln>
              <a:solidFill>
                <a:srgbClr val="015B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7"/>
            <p:cNvSpPr txBox="1"/>
            <p:nvPr/>
          </p:nvSpPr>
          <p:spPr>
            <a:xfrm>
              <a:off x="102" y="1808"/>
              <a:ext cx="7200" cy="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1" i="0">
                  <a:solidFill>
                    <a:srgbClr val="FFFFFF"/>
                  </a:solidFill>
                </a:rPr>
                <a:t>Rumus</a:t>
              </a:r>
              <a:endParaRPr lang="en-US" sz="1400" b="1" i="0">
                <a:solidFill>
                  <a:srgbClr val="FFFFFF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-9525" y="635"/>
            <a:ext cx="12198985" cy="562610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-1905"/>
            <a:ext cx="3315335" cy="346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400" b="1" i="0">
                <a:solidFill>
                  <a:srgbClr val="FFFFFF"/>
                </a:solidFill>
              </a:rPr>
              <a:t>MOCKUP &amp; RUMUS</a:t>
            </a:r>
            <a:endParaRPr lang="en-US" sz="2400" b="1" i="0">
              <a:solidFill>
                <a:srgbClr val="FFFFFF"/>
              </a:solidFill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49530" y="640715"/>
            <a:ext cx="7884795" cy="5967784"/>
            <a:chOff x="102" y="1757"/>
            <a:chExt cx="12417" cy="8659"/>
          </a:xfrm>
        </p:grpSpPr>
        <p:sp>
          <p:nvSpPr>
            <p:cNvPr id="6" name="Rectangle 5"/>
            <p:cNvSpPr/>
            <p:nvPr/>
          </p:nvSpPr>
          <p:spPr>
            <a:xfrm>
              <a:off x="102" y="1757"/>
              <a:ext cx="12417" cy="8659"/>
            </a:xfrm>
            <a:prstGeom prst="rect">
              <a:avLst/>
            </a:prstGeom>
            <a:solidFill>
              <a:srgbClr val="ECEFF1"/>
            </a:solidFill>
            <a:ln w="12700">
              <a:solidFill>
                <a:srgbClr val="1E3A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2" y="1757"/>
              <a:ext cx="7920" cy="576"/>
            </a:xfrm>
            <a:prstGeom prst="rect">
              <a:avLst/>
            </a:prstGeom>
            <a:solidFill>
              <a:srgbClr val="015B97"/>
            </a:solidFill>
            <a:ln>
              <a:solidFill>
                <a:srgbClr val="015B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" y="1765"/>
              <a:ext cx="2836" cy="48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/>
              <a:r>
                <a:rPr sz="1400" b="1" i="0">
                  <a:solidFill>
                    <a:srgbClr val="FFFFFF"/>
                  </a:solidFill>
                </a:rPr>
                <a:t>Mockup Dashboard</a:t>
              </a:r>
              <a:endParaRPr sz="1400" b="1" i="0">
                <a:solidFill>
                  <a:srgbClr val="FFFFFF"/>
                </a:solidFill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1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Material Ready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430000" y="6665976"/>
            <a:ext cx="64008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50" b="0" i="0">
                <a:solidFill>
                  <a:srgbClr val="8899AA"/>
                </a:solidFill>
              </a:rPr>
              <a:t>5 / 6</a:t>
            </a:r>
            <a:endParaRPr lang="en-US" sz="750" b="0" i="0">
              <a:solidFill>
                <a:srgbClr val="8899AA"/>
              </a:solidFill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1"/>
          <a:srcRect r="-479" b="-3488"/>
          <a:stretch>
            <a:fillRect/>
          </a:stretch>
        </p:blipFill>
        <p:spPr>
          <a:xfrm>
            <a:off x="121920" y="1613535"/>
            <a:ext cx="7739380" cy="4123055"/>
          </a:xfrm>
          <a:prstGeom prst="rect">
            <a:avLst/>
          </a:prstGeom>
        </p:spPr>
      </p:pic>
      <p:sp>
        <p:nvSpPr>
          <p:cNvPr id="44" name="TextBox 7"/>
          <p:cNvSpPr txBox="1"/>
          <p:nvPr/>
        </p:nvSpPr>
        <p:spPr>
          <a:xfrm>
            <a:off x="5867400" y="6297295"/>
            <a:ext cx="19939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1">
                <a:solidFill>
                  <a:schemeClr val="tx1"/>
                </a:solidFill>
              </a:rPr>
              <a:t>***Mockup ini hanya Sample.</a:t>
            </a:r>
            <a:endParaRPr lang="en-US" sz="1100" b="1" i="1">
              <a:solidFill>
                <a:schemeClr val="tx1"/>
              </a:solidFill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030210" y="1004570"/>
            <a:ext cx="3835400" cy="829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QTY PDK vs QTY </a:t>
            </a:r>
            <a: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OUTPUT (APS)</a:t>
            </a:r>
            <a:b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</a:br>
            <a:r>
              <a:rPr lang="en-US" sz="1100" i="1" dirty="0" err="1">
                <a:sym typeface="+mn-ea"/>
              </a:rPr>
              <a:t>Membandingkan</a:t>
            </a:r>
            <a:r>
              <a:rPr lang="en-US" sz="1100" i="1" dirty="0">
                <a:sym typeface="+mn-ea"/>
              </a:rPr>
              <a:t> total qty </a:t>
            </a:r>
            <a:r>
              <a:rPr lang="en-US" sz="1100" i="1" dirty="0" err="1">
                <a:sym typeface="+mn-ea"/>
              </a:rPr>
              <a:t>kebutuhan</a:t>
            </a:r>
            <a:r>
              <a:rPr lang="en-US" sz="1100" i="1" dirty="0">
                <a:sym typeface="+mn-ea"/>
              </a:rPr>
              <a:t> PDK </a:t>
            </a:r>
            <a:r>
              <a:rPr lang="en-US" sz="1100" i="1" dirty="0" err="1">
                <a:sym typeface="+mn-ea"/>
              </a:rPr>
              <a:t>dengan</a:t>
            </a:r>
            <a:r>
              <a:rPr lang="en-US" sz="1100" i="1" dirty="0">
                <a:sym typeface="+mn-ea"/>
              </a:rPr>
              <a:t> output </a:t>
            </a:r>
            <a:r>
              <a:rPr lang="en-US" sz="1100" i="1" dirty="0" err="1">
                <a:sym typeface="+mn-ea"/>
              </a:rPr>
              <a:t>aktual</a:t>
            </a:r>
            <a:r>
              <a:rPr lang="en-US" sz="1100" i="1" dirty="0">
                <a:sym typeface="+mn-ea"/>
              </a:rPr>
              <a:t>.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ym typeface="+mn-ea"/>
              </a:rPr>
              <a:t>Rumus</a:t>
            </a:r>
            <a:r>
              <a:rPr lang="en-US" sz="1100" i="1" dirty="0">
                <a:sym typeface="+mn-ea"/>
              </a:rPr>
              <a:t> : Qty Total PDK – Qty total Output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5" name="TextBox 23"/>
          <p:cNvSpPr txBox="1"/>
          <p:nvPr/>
        </p:nvSpPr>
        <p:spPr>
          <a:xfrm>
            <a:off x="8030210" y="1787525"/>
            <a:ext cx="2850515" cy="808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TOTAL OUTPUT </a:t>
            </a:r>
            <a:r>
              <a:rPr kumimoji="0" lang="en-US" altLang="ko-KR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cs typeface="+mn-cs"/>
              </a:rPr>
              <a:t>(APS)</a:t>
            </a:r>
            <a:br>
              <a:rPr kumimoji="0" lang="en-US" altLang="ko-KR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/>
                <a:cs typeface="+mn-cs"/>
              </a:rPr>
            </a:br>
            <a:r>
              <a:rPr lang="en-US" sz="1100" i="1" dirty="0" err="1">
                <a:sym typeface="+mn-ea"/>
              </a:rPr>
              <a:t>Menampilkan</a:t>
            </a:r>
            <a:r>
              <a:rPr lang="en-US" sz="1100" i="1" dirty="0">
                <a:sym typeface="+mn-ea"/>
              </a:rPr>
              <a:t> Total output </a:t>
            </a:r>
            <a:r>
              <a:rPr lang="en-US" sz="1100" i="1" dirty="0" err="1">
                <a:sym typeface="+mn-ea"/>
              </a:rPr>
              <a:t>aktual</a:t>
            </a:r>
            <a:r>
              <a:rPr lang="en-US" sz="1100" i="1" dirty="0">
                <a:sym typeface="+mn-ea"/>
              </a:rPr>
              <a:t>.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ym typeface="+mn-ea"/>
              </a:rPr>
              <a:t>Rumus</a:t>
            </a:r>
            <a:r>
              <a:rPr lang="en-US" sz="1100" i="1" dirty="0">
                <a:sym typeface="+mn-ea"/>
              </a:rPr>
              <a:t> : </a:t>
            </a:r>
            <a:r>
              <a:rPr lang="en-US" sz="1100" i="1" dirty="0" err="1">
                <a:sym typeface="+mn-ea"/>
              </a:rPr>
              <a:t>Menjumlahkan</a:t>
            </a:r>
            <a:r>
              <a:rPr lang="en-US" sz="1100" i="1" dirty="0">
                <a:sym typeface="+mn-ea"/>
              </a:rPr>
              <a:t> Qty total Output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7" name="TextBox 30"/>
          <p:cNvSpPr txBox="1"/>
          <p:nvPr/>
        </p:nvSpPr>
        <p:spPr>
          <a:xfrm>
            <a:off x="8030845" y="2566035"/>
            <a:ext cx="2850515" cy="843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BALANCE QTY </a:t>
            </a:r>
            <a: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(APS)</a:t>
            </a:r>
            <a:endParaRPr lang="en-US" altLang="ko-KR" sz="1100" b="1" i="1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ym typeface="+mn-ea"/>
              </a:rPr>
              <a:t>Menampilkan</a:t>
            </a:r>
            <a:r>
              <a:rPr lang="en-US" sz="1100" i="1" dirty="0">
                <a:sym typeface="+mn-ea"/>
              </a:rPr>
              <a:t> Total </a:t>
            </a:r>
            <a:r>
              <a:rPr lang="en-US" sz="1100" i="1" dirty="0" err="1">
                <a:sym typeface="+mn-ea"/>
              </a:rPr>
              <a:t>kekurangan</a:t>
            </a:r>
            <a:r>
              <a:rPr lang="en-US" sz="1100" i="1" dirty="0">
                <a:sym typeface="+mn-ea"/>
              </a:rPr>
              <a:t> qty PDK.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ym typeface="+mn-ea"/>
              </a:rPr>
              <a:t>Rumus</a:t>
            </a:r>
            <a:r>
              <a:rPr lang="en-US" sz="1100" i="1" dirty="0">
                <a:sym typeface="+mn-ea"/>
              </a:rPr>
              <a:t> : Qty Total PDK – Qty total Output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9" name="TextBox 34"/>
          <p:cNvSpPr txBox="1"/>
          <p:nvPr/>
        </p:nvSpPr>
        <p:spPr>
          <a:xfrm>
            <a:off x="8027035" y="3346450"/>
            <a:ext cx="4019550" cy="85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READY TO LOAD PRODUCTION (Engage &amp; CIUROX)</a:t>
            </a:r>
            <a:b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</a:br>
            <a:r>
              <a:rPr lang="en-US" sz="1100" i="1" dirty="0" err="1">
                <a:sym typeface="+mn-ea"/>
              </a:rPr>
              <a:t>Menampilkan</a:t>
            </a:r>
            <a:r>
              <a:rPr lang="en-US" sz="1100" i="1" dirty="0">
                <a:sym typeface="+mn-ea"/>
              </a:rPr>
              <a:t> material yang ready </a:t>
            </a:r>
            <a:r>
              <a:rPr lang="en-US" sz="1100" i="1" dirty="0" err="1">
                <a:sym typeface="+mn-ea"/>
              </a:rPr>
              <a:t>untuk</a:t>
            </a:r>
            <a:r>
              <a:rPr lang="en-US" sz="1100" i="1" dirty="0">
                <a:sym typeface="+mn-ea"/>
              </a:rPr>
              <a:t> di proses.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ym typeface="+mn-ea"/>
              </a:rPr>
              <a:t>Rumus</a:t>
            </a:r>
            <a:r>
              <a:rPr lang="en-US" sz="1100" i="1" dirty="0">
                <a:sym typeface="+mn-ea"/>
              </a:rPr>
              <a:t> : Qty IN [ acc = ok ] – qty OUT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1" name="TextBox 72"/>
          <p:cNvSpPr txBox="1"/>
          <p:nvPr/>
        </p:nvSpPr>
        <p:spPr>
          <a:xfrm>
            <a:off x="7992110" y="4141470"/>
            <a:ext cx="4202430" cy="85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KAPASITAS vs OUTPUT vs INPUT </a:t>
            </a:r>
            <a: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(Engage &amp; APS)</a:t>
            </a:r>
            <a:b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</a:br>
            <a:r>
              <a:rPr lang="en-US" sz="1100" i="1" dirty="0" err="1">
                <a:sym typeface="+mn-ea"/>
              </a:rPr>
              <a:t>Menampilkan</a:t>
            </a:r>
            <a:r>
              <a:rPr lang="en-US" sz="1100" i="1" dirty="0">
                <a:sym typeface="+mn-ea"/>
              </a:rPr>
              <a:t> </a:t>
            </a:r>
            <a:r>
              <a:rPr lang="en-US" sz="1100" i="1" dirty="0" err="1">
                <a:sym typeface="+mn-ea"/>
              </a:rPr>
              <a:t>jumlah</a:t>
            </a:r>
            <a:r>
              <a:rPr lang="en-US" sz="1100" i="1" dirty="0">
                <a:sym typeface="+mn-ea"/>
              </a:rPr>
              <a:t> </a:t>
            </a:r>
            <a:r>
              <a:rPr lang="en-US" sz="1100" i="1" dirty="0" err="1">
                <a:sym typeface="+mn-ea"/>
              </a:rPr>
              <a:t>kapasitas</a:t>
            </a:r>
            <a:r>
              <a:rPr lang="en-US" sz="1100" i="1" dirty="0">
                <a:sym typeface="+mn-ea"/>
              </a:rPr>
              <a:t> </a:t>
            </a:r>
            <a:r>
              <a:rPr lang="en-US" sz="1100" i="1" dirty="0" err="1">
                <a:sym typeface="+mn-ea"/>
              </a:rPr>
              <a:t>harian</a:t>
            </a:r>
            <a:r>
              <a:rPr lang="en-US" sz="1100" i="1" dirty="0">
                <a:sym typeface="+mn-ea"/>
              </a:rPr>
              <a:t> dan </a:t>
            </a:r>
            <a:r>
              <a:rPr lang="en-US" sz="1100" i="1" dirty="0" err="1">
                <a:sym typeface="+mn-ea"/>
              </a:rPr>
              <a:t>jumlah</a:t>
            </a:r>
            <a:r>
              <a:rPr lang="en-US" sz="1100" i="1" dirty="0">
                <a:sym typeface="+mn-ea"/>
              </a:rPr>
              <a:t> material IN &amp; OUT.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ym typeface="+mn-ea"/>
              </a:rPr>
              <a:t>Rumus</a:t>
            </a:r>
            <a:r>
              <a:rPr lang="en-US" sz="1100" i="1" dirty="0">
                <a:sym typeface="+mn-ea"/>
              </a:rPr>
              <a:t> : </a:t>
            </a:r>
            <a:r>
              <a:rPr lang="en-US" sz="1100" i="1" dirty="0" err="1">
                <a:sym typeface="+mn-ea"/>
              </a:rPr>
              <a:t>kapasitas</a:t>
            </a:r>
            <a:r>
              <a:rPr lang="en-US" sz="1100" i="1" dirty="0">
                <a:sym typeface="+mn-ea"/>
              </a:rPr>
              <a:t> : Balance qty / </a:t>
            </a:r>
            <a:r>
              <a:rPr lang="en-US" sz="1100" i="1" dirty="0" err="1">
                <a:sym typeface="+mn-ea"/>
              </a:rPr>
              <a:t>sisa</a:t>
            </a:r>
            <a:r>
              <a:rPr lang="en-US" sz="1100" i="1" dirty="0">
                <a:sym typeface="+mn-ea"/>
              </a:rPr>
              <a:t> </a:t>
            </a:r>
            <a:r>
              <a:rPr lang="en-US" sz="1100" i="1" dirty="0" err="1">
                <a:sym typeface="+mn-ea"/>
              </a:rPr>
              <a:t>hari</a:t>
            </a:r>
            <a:r>
              <a:rPr lang="en-US" sz="1100" i="1" dirty="0">
                <a:sym typeface="+mn-ea"/>
              </a:rPr>
              <a:t> </a:t>
            </a:r>
            <a:r>
              <a:rPr lang="en-US" sz="1100" i="1" dirty="0" err="1">
                <a:sym typeface="+mn-ea"/>
              </a:rPr>
              <a:t>kerja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3" name="TextBox 76"/>
          <p:cNvSpPr txBox="1"/>
          <p:nvPr/>
        </p:nvSpPr>
        <p:spPr>
          <a:xfrm>
            <a:off x="8030210" y="4994275"/>
            <a:ext cx="4001770" cy="1546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TOP PRIORITY ORDER READY FOR PRODUCTION</a:t>
            </a:r>
            <a:endParaRPr lang="en-US" altLang="ko-KR" sz="1100" b="1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  <a:t>(Engage &amp; APS)</a:t>
            </a:r>
            <a:br>
              <a:rPr lang="en-US" altLang="ko-KR" sz="11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/>
              </a:rPr>
            </a:br>
            <a:r>
              <a:rPr lang="en-US" sz="1100" i="1" dirty="0" err="1">
                <a:sym typeface="+mn-ea"/>
              </a:rPr>
              <a:t>Menampilkan</a:t>
            </a:r>
            <a:r>
              <a:rPr lang="en-US" sz="1100" i="1" dirty="0">
                <a:sym typeface="+mn-ea"/>
              </a:rPr>
              <a:t> </a:t>
            </a:r>
            <a:r>
              <a:rPr lang="en-US" sz="1100" i="1" dirty="0" err="1">
                <a:sym typeface="+mn-ea"/>
              </a:rPr>
              <a:t>prioritas</a:t>
            </a:r>
            <a:r>
              <a:rPr lang="en-US" sz="1100" i="1" dirty="0">
                <a:sym typeface="+mn-ea"/>
              </a:rPr>
              <a:t> order yang </a:t>
            </a:r>
            <a:r>
              <a:rPr lang="en-US" sz="1100" i="1" dirty="0" err="1">
                <a:sym typeface="+mn-ea"/>
              </a:rPr>
              <a:t>harus</a:t>
            </a:r>
            <a:r>
              <a:rPr lang="en-US" sz="1100" i="1" dirty="0">
                <a:sym typeface="+mn-ea"/>
              </a:rPr>
              <a:t> di proses </a:t>
            </a:r>
            <a:r>
              <a:rPr lang="en-US" sz="1100" i="1" dirty="0" err="1">
                <a:sym typeface="+mn-ea"/>
              </a:rPr>
              <a:t>terlebih</a:t>
            </a:r>
            <a:r>
              <a:rPr lang="en-US" sz="1100" i="1" dirty="0">
                <a:sym typeface="+mn-ea"/>
              </a:rPr>
              <a:t> </a:t>
            </a:r>
            <a:r>
              <a:rPr lang="en-US" sz="1100" i="1" dirty="0" err="1">
                <a:sym typeface="+mn-ea"/>
              </a:rPr>
              <a:t>dahulu berdasarkan</a:t>
            </a:r>
            <a:r>
              <a:rPr lang="en-US" sz="1100" i="1" dirty="0">
                <a:sym typeface="+mn-ea"/>
              </a:rPr>
              <a:t> “Material Ready” </a:t>
            </a:r>
            <a:r>
              <a:rPr lang="en-US" sz="1100" i="1" dirty="0" err="1">
                <a:sym typeface="+mn-ea"/>
              </a:rPr>
              <a:t>dengan</a:t>
            </a:r>
            <a:r>
              <a:rPr lang="en-US" sz="1100" i="1" dirty="0">
                <a:sym typeface="+mn-ea"/>
              </a:rPr>
              <a:t> delivery </a:t>
            </a:r>
            <a:r>
              <a:rPr lang="en-US" sz="1100" i="1" dirty="0" err="1">
                <a:sym typeface="+mn-ea"/>
              </a:rPr>
              <a:t>terdekat</a:t>
            </a:r>
            <a:r>
              <a:rPr lang="en-US" sz="1100" i="1" dirty="0">
                <a:sym typeface="+mn-ea"/>
              </a:rPr>
              <a:t>.</a:t>
            </a:r>
            <a:endParaRPr lang="en-US" sz="1100" i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i="1" dirty="0" err="1">
                <a:sym typeface="+mn-ea"/>
              </a:rPr>
              <a:t>Rumus</a:t>
            </a:r>
            <a:r>
              <a:rPr lang="en-US" sz="1100" i="1" dirty="0">
                <a:sym typeface="+mn-ea"/>
              </a:rPr>
              <a:t> : </a:t>
            </a:r>
            <a:r>
              <a:rPr lang="en-US" sz="1100" i="1" dirty="0" err="1">
                <a:sym typeface="+mn-ea"/>
              </a:rPr>
              <a:t>Menjabarkan</a:t>
            </a:r>
            <a:r>
              <a:rPr lang="en-US" sz="1100" i="1" dirty="0">
                <a:sym typeface="+mn-ea"/>
              </a:rPr>
              <a:t> data yang </a:t>
            </a:r>
            <a:r>
              <a:rPr lang="en-US" sz="1100" i="1" dirty="0" err="1">
                <a:sym typeface="+mn-ea"/>
              </a:rPr>
              <a:t>ada</a:t>
            </a:r>
            <a:r>
              <a:rPr lang="en-US" sz="1100" i="1" dirty="0">
                <a:sym typeface="+mn-ea"/>
              </a:rPr>
              <a:t> di “Material Ready” </a:t>
            </a:r>
            <a:r>
              <a:rPr lang="en-US" sz="1100" i="1" dirty="0" err="1">
                <a:sym typeface="+mn-ea"/>
              </a:rPr>
              <a:t>dengan</a:t>
            </a:r>
            <a:r>
              <a:rPr lang="en-US" sz="1100" i="1" dirty="0">
                <a:sym typeface="+mn-ea"/>
              </a:rPr>
              <a:t> Delivery </a:t>
            </a:r>
            <a:r>
              <a:rPr lang="en-US" sz="1100" i="1" dirty="0" err="1">
                <a:sym typeface="+mn-ea"/>
              </a:rPr>
              <a:t>terdekat.</a:t>
            </a:r>
            <a:endParaRPr kumimoji="0" lang="en-US" altLang="ko-KR" sz="11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-10160" y="0"/>
            <a:ext cx="12198985" cy="636905"/>
          </a:xfrm>
          <a:prstGeom prst="rect">
            <a:avLst/>
          </a:prstGeom>
          <a:solidFill>
            <a:srgbClr val="01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3975"/>
            <a:ext cx="29622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2400" b="1" i="0">
                <a:solidFill>
                  <a:srgbClr val="FFFFFF"/>
                </a:solidFill>
              </a:rPr>
              <a:t>KESIMPULAN</a:t>
            </a:r>
            <a:endParaRPr lang="en-US" altLang="en-US" sz="24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1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-7620" y="6674231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Material Ready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0" y="6665976"/>
            <a:ext cx="64008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50" b="0" i="0">
                <a:solidFill>
                  <a:srgbClr val="8899AA"/>
                </a:solidFill>
              </a:rPr>
              <a:t>6 / 6</a:t>
            </a:r>
            <a:endParaRPr lang="en-US" sz="750" b="0" i="0">
              <a:solidFill>
                <a:srgbClr val="8899AA"/>
              </a:solidFill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441325" y="849630"/>
            <a:ext cx="3552825" cy="5594350"/>
            <a:chOff x="695" y="1338"/>
            <a:chExt cx="4905" cy="8810"/>
          </a:xfrm>
        </p:grpSpPr>
        <p:sp>
          <p:nvSpPr>
            <p:cNvPr id="30" name="Rounded Rectangle 29"/>
            <p:cNvSpPr/>
            <p:nvPr/>
          </p:nvSpPr>
          <p:spPr>
            <a:xfrm>
              <a:off x="696" y="1338"/>
              <a:ext cx="4904" cy="8810"/>
            </a:xfrm>
            <a:prstGeom prst="roundRect">
              <a:avLst/>
            </a:prstGeom>
            <a:ln>
              <a:solidFill>
                <a:srgbClr val="015B97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en-US"/>
            </a:p>
          </p:txBody>
        </p:sp>
        <p:sp>
          <p:nvSpPr>
            <p:cNvPr id="42" name="Top Corners Rounded Rectangle 41"/>
            <p:cNvSpPr/>
            <p:nvPr/>
          </p:nvSpPr>
          <p:spPr>
            <a:xfrm>
              <a:off x="695" y="1338"/>
              <a:ext cx="4905" cy="1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15B97"/>
            </a:solidFill>
            <a:ln>
              <a:solidFill>
                <a:srgbClr val="015B9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pPr algn="ctr"/>
              <a:r>
                <a:rPr lang="en-US" sz="3200" b="1"/>
                <a:t>FOCUS</a:t>
              </a:r>
              <a:endParaRPr lang="en-US" sz="3200" b="1"/>
            </a:p>
          </p:txBody>
        </p:sp>
      </p:grpSp>
      <p:sp>
        <p:nvSpPr>
          <p:cNvPr id="47" name="Text Box 46"/>
          <p:cNvSpPr txBox="1"/>
          <p:nvPr/>
        </p:nvSpPr>
        <p:spPr>
          <a:xfrm>
            <a:off x="562610" y="1748790"/>
            <a:ext cx="3144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Otomatisasi &amp;</a:t>
            </a:r>
            <a:r>
              <a:rPr lang="en-US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 </a:t>
            </a:r>
            <a:r>
              <a:rPr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Integrasi Data</a:t>
            </a:r>
            <a:endParaRPr lang="en-US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742315" y="2091055"/>
            <a:ext cx="306578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Menghilangkan penarikan data manual dengan menyatukan 3 sistem utama secara otomatis : </a:t>
            </a:r>
            <a:endParaRPr 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APS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Engage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CIUROX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</p:txBody>
      </p:sp>
      <p:sp>
        <p:nvSpPr>
          <p:cNvPr id="49" name="Text Box 48"/>
          <p:cNvSpPr txBox="1"/>
          <p:nvPr/>
        </p:nvSpPr>
        <p:spPr>
          <a:xfrm>
            <a:off x="506730" y="3848100"/>
            <a:ext cx="3144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Penyederhanaan Proses</a:t>
            </a:r>
            <a:endParaRPr lang="en-US" altLang="en-US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668655" y="4183380"/>
            <a:ext cx="3065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Menggantikan rekapitulasi manual di Excel yang memakan waktu lama dan rawan kesalahan.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4377055" y="849630"/>
            <a:ext cx="3552825" cy="5594350"/>
            <a:chOff x="695" y="1338"/>
            <a:chExt cx="4905" cy="8810"/>
          </a:xfrm>
        </p:grpSpPr>
        <p:sp>
          <p:nvSpPr>
            <p:cNvPr id="52" name="Rounded Rectangle 51"/>
            <p:cNvSpPr/>
            <p:nvPr/>
          </p:nvSpPr>
          <p:spPr>
            <a:xfrm>
              <a:off x="696" y="1338"/>
              <a:ext cx="4904" cy="8810"/>
            </a:xfrm>
            <a:prstGeom prst="roundRect">
              <a:avLst/>
            </a:prstGeom>
            <a:ln>
              <a:solidFill>
                <a:srgbClr val="FF8B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en-US"/>
            </a:p>
          </p:txBody>
        </p:sp>
        <p:sp>
          <p:nvSpPr>
            <p:cNvPr id="53" name="Top Corners Rounded Rectangle 52"/>
            <p:cNvSpPr/>
            <p:nvPr/>
          </p:nvSpPr>
          <p:spPr>
            <a:xfrm>
              <a:off x="695" y="1338"/>
              <a:ext cx="4905" cy="1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8B00"/>
            </a:solidFill>
            <a:ln>
              <a:solidFill>
                <a:srgbClr val="FF8B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pPr algn="ctr"/>
              <a:r>
                <a:rPr lang="en-US" altLang="en-US" sz="3200" b="1"/>
                <a:t>OUTPUT</a:t>
              </a:r>
              <a:endParaRPr lang="en-US" altLang="en-US" sz="3200" b="1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8312785" y="849630"/>
            <a:ext cx="3552825" cy="5594350"/>
            <a:chOff x="695" y="1338"/>
            <a:chExt cx="4905" cy="8810"/>
          </a:xfrm>
        </p:grpSpPr>
        <p:sp>
          <p:nvSpPr>
            <p:cNvPr id="56" name="Rounded Rectangle 55"/>
            <p:cNvSpPr/>
            <p:nvPr/>
          </p:nvSpPr>
          <p:spPr>
            <a:xfrm>
              <a:off x="696" y="1338"/>
              <a:ext cx="4904" cy="8810"/>
            </a:xfrm>
            <a:prstGeom prst="roundRect">
              <a:avLst/>
            </a:prstGeom>
            <a:ln>
              <a:solidFill>
                <a:srgbClr val="00A2E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p>
              <a:endParaRPr lang="en-US"/>
            </a:p>
          </p:txBody>
        </p:sp>
        <p:sp>
          <p:nvSpPr>
            <p:cNvPr id="57" name="Top Corners Rounded Rectangle 56"/>
            <p:cNvSpPr/>
            <p:nvPr/>
          </p:nvSpPr>
          <p:spPr>
            <a:xfrm>
              <a:off x="695" y="1338"/>
              <a:ext cx="4905" cy="116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A2E0"/>
            </a:solidFill>
            <a:ln>
              <a:solidFill>
                <a:srgbClr val="00A2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pPr algn="ctr"/>
              <a:r>
                <a:rPr lang="en-US" altLang="en-US" sz="3200" b="1"/>
                <a:t>IMPACT</a:t>
              </a:r>
              <a:endParaRPr lang="en-US" altLang="en-US" sz="3200" b="1"/>
            </a:p>
          </p:txBody>
        </p:sp>
      </p:grpSp>
      <p:sp>
        <p:nvSpPr>
          <p:cNvPr id="58" name="Text Box 57"/>
          <p:cNvSpPr txBox="1"/>
          <p:nvPr/>
        </p:nvSpPr>
        <p:spPr>
          <a:xfrm>
            <a:off x="4421505" y="1695450"/>
            <a:ext cx="3144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Web Dashboard Real-Time</a:t>
            </a:r>
            <a:endParaRPr lang="en-US" altLang="en-US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sp>
        <p:nvSpPr>
          <p:cNvPr id="59" name="Text Box 58"/>
          <p:cNvSpPr txBox="1"/>
          <p:nvPr/>
        </p:nvSpPr>
        <p:spPr>
          <a:xfrm>
            <a:off x="4645025" y="2019300"/>
            <a:ext cx="28752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Tampilan satu halaman yang mudah diakses kapan saja oleh semua departemen.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</p:txBody>
      </p:sp>
      <p:sp>
        <p:nvSpPr>
          <p:cNvPr id="60" name="Text Box 59"/>
          <p:cNvSpPr txBox="1"/>
          <p:nvPr/>
        </p:nvSpPr>
        <p:spPr>
          <a:xfrm>
            <a:off x="4460875" y="2778125"/>
            <a:ext cx="3144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Perhitungan</a:t>
            </a:r>
            <a:endParaRPr lang="en-US" altLang="en-US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sp>
        <p:nvSpPr>
          <p:cNvPr id="61" name="Text Box 60"/>
          <p:cNvSpPr txBox="1"/>
          <p:nvPr/>
        </p:nvSpPr>
        <p:spPr>
          <a:xfrm>
            <a:off x="4645025" y="3077210"/>
            <a:ext cx="25888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Total Output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Sisa Target (Balance)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Kapasitas Harian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Status Ready to Load (RTL)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</p:txBody>
      </p:sp>
      <p:sp>
        <p:nvSpPr>
          <p:cNvPr id="62" name="Text Box 61"/>
          <p:cNvSpPr txBox="1"/>
          <p:nvPr/>
        </p:nvSpPr>
        <p:spPr>
          <a:xfrm>
            <a:off x="4421505" y="4448810"/>
            <a:ext cx="3144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Analisis</a:t>
            </a:r>
            <a:endParaRPr lang="en-US" altLang="en-US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4564380" y="4726940"/>
            <a:ext cx="32321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Analisis otomatis di layar berupa saran penyesuaian target harian apabila laju produksi berada di bawah target kapasitas.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</p:txBody>
      </p:sp>
      <p:sp>
        <p:nvSpPr>
          <p:cNvPr id="64" name="Text Box 63"/>
          <p:cNvSpPr txBox="1"/>
          <p:nvPr/>
        </p:nvSpPr>
        <p:spPr>
          <a:xfrm>
            <a:off x="8324850" y="1638300"/>
            <a:ext cx="3144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Kecepatan Keputusan</a:t>
            </a:r>
            <a:endParaRPr lang="en-US" altLang="en-US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sp>
        <p:nvSpPr>
          <p:cNvPr id="65" name="Text Box 64"/>
          <p:cNvSpPr txBox="1"/>
          <p:nvPr/>
        </p:nvSpPr>
        <p:spPr>
          <a:xfrm>
            <a:off x="8495665" y="1919605"/>
            <a:ext cx="36423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Supervisor &amp; Planner dapat langsung merencanakan loading produksi tanpa harus menunggu email rekapitulasi harian.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</p:txBody>
      </p:sp>
      <p:sp>
        <p:nvSpPr>
          <p:cNvPr id="66" name="Text Box 65"/>
          <p:cNvSpPr txBox="1"/>
          <p:nvPr/>
        </p:nvSpPr>
        <p:spPr>
          <a:xfrm>
            <a:off x="8328025" y="2836545"/>
            <a:ext cx="3144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Akurasi &amp; Konsistensi Data</a:t>
            </a:r>
            <a:endParaRPr lang="en-US" altLang="en-US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sp>
        <p:nvSpPr>
          <p:cNvPr id="67" name="Text Box 66"/>
          <p:cNvSpPr txBox="1"/>
          <p:nvPr/>
        </p:nvSpPr>
        <p:spPr>
          <a:xfrm>
            <a:off x="8506460" y="3119755"/>
            <a:ext cx="34766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Menghilangkan human error akibat rekap manual dan menyajikan satu data yang sama (Single Source of Truth)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</p:txBody>
      </p:sp>
      <p:sp>
        <p:nvSpPr>
          <p:cNvPr id="68" name="Text Box 67"/>
          <p:cNvSpPr txBox="1"/>
          <p:nvPr/>
        </p:nvSpPr>
        <p:spPr>
          <a:xfrm>
            <a:off x="8318500" y="4038600"/>
            <a:ext cx="3144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Efisiensi Waktu</a:t>
            </a:r>
            <a:endParaRPr lang="en-US" altLang="en-US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sp>
        <p:nvSpPr>
          <p:cNvPr id="69" name="Text Box 68"/>
          <p:cNvSpPr txBox="1"/>
          <p:nvPr/>
        </p:nvSpPr>
        <p:spPr>
          <a:xfrm>
            <a:off x="8480425" y="4304030"/>
            <a:ext cx="33534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Proses penyediaan data berjalan secara otomatis sehingga informasi selalu terupdate secara real-time.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</p:txBody>
      </p:sp>
      <p:sp>
        <p:nvSpPr>
          <p:cNvPr id="70" name="Text Box 69"/>
          <p:cNvSpPr txBox="1"/>
          <p:nvPr/>
        </p:nvSpPr>
        <p:spPr>
          <a:xfrm>
            <a:off x="8347075" y="5193030"/>
            <a:ext cx="3144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i="0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</a:rPr>
              <a:t>Pencegahan Keterlambatan</a:t>
            </a:r>
            <a:endParaRPr lang="en-US" altLang="en-US" b="1" i="0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</a:endParaRPr>
          </a:p>
        </p:txBody>
      </p:sp>
      <p:sp>
        <p:nvSpPr>
          <p:cNvPr id="71" name="Text Box 70"/>
          <p:cNvSpPr txBox="1"/>
          <p:nvPr/>
        </p:nvSpPr>
        <p:spPr>
          <a:xfrm>
            <a:off x="8499475" y="5494655"/>
            <a:ext cx="33858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en-US" sz="1200" i="1">
                <a:solidFill>
                  <a:srgbClr val="101010"/>
                </a:solidFill>
                <a:latin typeface="Calibri" panose="020F0502020204030204" charset="0"/>
                <a:ea typeface="system-ui"/>
                <a:cs typeface="Calibri" panose="020F0502020204030204" charset="0"/>
                <a:sym typeface="+mn-ea"/>
              </a:rPr>
              <a:t>Membantu memantau kesiapan produksi agar order dapat selesai dan dikirim sesuai jadwal.</a:t>
            </a:r>
            <a:endParaRPr lang="en-US" altLang="en-US" sz="1200" i="1">
              <a:solidFill>
                <a:srgbClr val="101010"/>
              </a:solidFill>
              <a:latin typeface="Calibri" panose="020F0502020204030204" charset="0"/>
              <a:ea typeface="system-ui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675"/>
            <a:ext cx="12188952" cy="6858000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Terima Kasih!</a:t>
            </a:r>
            <a:endParaRPr sz="52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A601"/>
                </a:solidFill>
              </a:rPr>
              <a:t>Dengan dashboard ini, kita akan bekerja dengan SATU DATA YANG SAMA, LEBIH CEPAT, dan LEBIH AKURAT.</a:t>
            </a:r>
            <a:endParaRPr sz="1600" b="0" i="1">
              <a:solidFill>
                <a:srgbClr val="F5A60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1922"/>
            <a:ext cx="12188952" cy="201168"/>
          </a:xfrm>
          <a:prstGeom prst="rect">
            <a:avLst/>
          </a:prstGeom>
          <a:solidFill>
            <a:srgbClr val="015B97"/>
          </a:solidFill>
          <a:ln>
            <a:solidFill>
              <a:srgbClr val="01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741541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Material Ready</a:t>
            </a:r>
            <a:endParaRPr sz="750" b="0" i="0">
              <a:solidFill>
                <a:srgbClr val="BBCCD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4800</Words>
  <Application>WPS Presentation</Application>
  <PresentationFormat>On-screen Show (4:3)</PresentationFormat>
  <Paragraphs>214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system-ui</vt:lpstr>
      <vt:lpstr>Adigiana Toybox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iso ayu</cp:lastModifiedBy>
  <cp:revision>10</cp:revision>
  <dcterms:created xsi:type="dcterms:W3CDTF">2013-01-27T09:14:00Z</dcterms:created>
  <dcterms:modified xsi:type="dcterms:W3CDTF">2026-08-19T08:53:03Z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6DBAFC17FC20441EBEB6FE5BAF3CF335_12</vt:lpwstr>
  </property>
  <property fmtid="{D5CDD505-2E9C-101B-9397-08002B2CF9AE}" pid="3" name="KSOProductBuildVer">
    <vt:lpwstr>1033-12.1.0.28032</vt:lpwstr>
  </property>
</Properties>
</file>