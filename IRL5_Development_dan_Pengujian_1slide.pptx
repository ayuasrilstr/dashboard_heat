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" y="91440"/>
            <a:ext cx="12008815" cy="6675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201168"/>
            <a:ext cx="9692640" cy="475488"/>
          </a:xfrm>
          <a:prstGeom prst="rect">
            <a:avLst/>
          </a:prstGeom>
          <a:solidFill>
            <a:srgbClr val="105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65176"/>
            <a:ext cx="941832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IRL 5 : DEVELOPMENT DASHBOARD, INTEGRASI DATABASE, SERTA PENGUJIAN KONEKSI DATA REAL-TIME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37360" y="868680"/>
            <a:ext cx="2286000" cy="329184"/>
          </a:xfrm>
          <a:prstGeom prst="roundRect">
            <a:avLst/>
          </a:prstGeom>
          <a:solidFill>
            <a:srgbClr val="0E4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0" y="914400"/>
            <a:ext cx="2286000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INTEGRASI DATABASE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53312"/>
            <a:ext cx="15544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99032"/>
            <a:ext cx="155448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50" b="1" i="0">
                <a:solidFill>
                  <a:srgbClr val="1E293B"/>
                </a:solidFill>
              </a:rPr>
              <a:t>Accessories RPA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700784"/>
            <a:ext cx="1426464" cy="384048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728216"/>
            <a:ext cx="1426464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750" b="0" i="0">
                <a:solidFill>
                  <a:srgbClr val="1E293B"/>
                </a:solidFill>
              </a:rPr>
              <a:t>CONTROLIST.xlsx\n(Playwright CIUROX)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03120" y="1353312"/>
            <a:ext cx="15544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1399032"/>
            <a:ext cx="155448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50" b="1" i="0">
                <a:solidFill>
                  <a:srgbClr val="1E293B"/>
                </a:solidFill>
              </a:rPr>
              <a:t>APS RPA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67128" y="1700784"/>
            <a:ext cx="1426464" cy="384048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67128" y="1728216"/>
            <a:ext cx="1426464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750" b="0" i="0">
                <a:solidFill>
                  <a:srgbClr val="1E293B"/>
                </a:solidFill>
              </a:rPr>
              <a:t>Export JO.xlsx\n(Win32 GUI Automation)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6200" y="1353312"/>
            <a:ext cx="15544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86200" y="1399032"/>
            <a:ext cx="155448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50" b="1" i="0">
                <a:solidFill>
                  <a:srgbClr val="1E293B"/>
                </a:solidFill>
              </a:rPr>
              <a:t>Engage Ingestion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50208" y="1700784"/>
            <a:ext cx="1426464" cy="384048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50208" y="1728216"/>
            <a:ext cx="1426464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700" b="0" i="0">
                <a:solidFill>
                  <a:srgbClr val="1E293B"/>
                </a:solidFill>
              </a:rPr>
              <a:t>Storage 32 &amp; 32a\n(sync_engage_transactions.php)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880360" y="2194560"/>
            <a:ext cx="0" cy="228600"/>
          </a:xfrm>
          <a:prstGeom prst="line">
            <a:avLst/>
          </a:prstGeom>
          <a:ln w="19050">
            <a:solidFill>
              <a:srgbClr val="0E4D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143000" y="2450592"/>
            <a:ext cx="347472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4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2487168"/>
            <a:ext cx="3474720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950" b="1" i="0">
                <a:solidFill>
                  <a:srgbClr val="0E4D82"/>
                </a:solidFill>
              </a:rPr>
              <a:t>Pipeline ETL &amp; Data Cleansing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2743200"/>
            <a:ext cx="3383280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750" b="0" i="0">
                <a:solidFill>
                  <a:srgbClr val="1E293B"/>
                </a:solidFill>
              </a:rPr>
              <a:t>Streaming Native XML Parser (No-Leak) • Normalisasi Nomor JO • Sanitasi Null/Date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880360" y="3090672"/>
            <a:ext cx="0" cy="219456"/>
          </a:xfrm>
          <a:prstGeom prst="line">
            <a:avLst/>
          </a:prstGeom>
          <a:ln w="19050">
            <a:solidFill>
              <a:srgbClr val="0E4D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an 23"/>
          <p:cNvSpPr/>
          <p:nvPr/>
        </p:nvSpPr>
        <p:spPr>
          <a:xfrm>
            <a:off x="1737360" y="3337560"/>
            <a:ext cx="2286000" cy="530352"/>
          </a:xfrm>
          <a:prstGeom prst="can">
            <a:avLst/>
          </a:prstGeom>
          <a:solidFill>
            <a:srgbClr val="FFFFFF"/>
          </a:solidFill>
          <a:ln w="19050">
            <a:solidFill>
              <a:srgbClr val="0E4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37360" y="3456432"/>
            <a:ext cx="228600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900" b="1" i="0">
                <a:solidFill>
                  <a:srgbClr val="0E4D82"/>
                </a:solidFill>
              </a:rPr>
              <a:t>Database MySQL\n(db_dashboardgm)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3291840"/>
            <a:ext cx="192024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700" b="0" i="0">
                <a:solidFill>
                  <a:srgbClr val="1E293B"/>
                </a:solidFill>
              </a:rPr>
              <a:t>- - - - &gt; tb_engage_transactions: Staging Mutasi Live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3493008"/>
            <a:ext cx="192024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700" b="0" i="0">
                <a:solidFill>
                  <a:srgbClr val="1E293B"/>
                </a:solidFill>
              </a:rPr>
              <a:t>- - - - &gt; tb_engage_archieve: Auto-Rotasi Arsip 90 Hari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3694176"/>
            <a:ext cx="192024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700" b="0" i="0">
                <a:solidFill>
                  <a:srgbClr val="1E293B"/>
                </a:solidFill>
              </a:rPr>
              <a:t>- - - - &gt; engage_daily_history &amp; dashboard_heat_history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3895344"/>
            <a:ext cx="192024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700" b="0" i="0">
                <a:solidFill>
                  <a:srgbClr val="1E293B"/>
                </a:solidFill>
              </a:rPr>
              <a:t>- - - - &gt; JSON Cache: SMV, Kalender Kerja, Analytics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4251960"/>
            <a:ext cx="5303520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950" b="1" i="0">
                <a:solidFill>
                  <a:srgbClr val="0E4D82"/>
                </a:solidFill>
              </a:rPr>
              <a:t>Keterangan 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4526280"/>
            <a:ext cx="530352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800">
                <a:solidFill>
                  <a:srgbClr val="1E293B"/>
                </a:solidFill>
              </a:rPr>
              <a:t>• Dual Data Source Handshake:</a:t>
            </a:r>
            <a:r>
              <a:rPr b="0" sz="780">
                <a:solidFill>
                  <a:srgbClr val="1E293B"/>
                </a:solidFill>
              </a:rPr>
              <a:t> Mengintegrasikan Active Record MySQL (db_dashboardgm) dengan streaming XML reader untuk file Excel (proses ribuan baris &lt; 1 detik tanpa memory leak).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4983480"/>
            <a:ext cx="530352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800">
                <a:solidFill>
                  <a:srgbClr val="1E293B"/>
                </a:solidFill>
              </a:rPr>
              <a:t>• Atomic Upsert &amp; Deduplikasi:</a:t>
            </a:r>
            <a:r>
              <a:rPr b="0" sz="780">
                <a:solidFill>
                  <a:srgbClr val="1E293B"/>
                </a:solidFill>
              </a:rPr>
              <a:t> Penyeragaman transaksi Engage dengan pencegahan duplikasi data melalui komposit unique key (udef_3 / udef_4).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5440680"/>
            <a:ext cx="530352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800">
                <a:solidFill>
                  <a:srgbClr val="1E293B"/>
                </a:solidFill>
              </a:rPr>
              <a:t>• Automated Retention &amp; Archiving:</a:t>
            </a:r>
            <a:r>
              <a:rPr b="0" sz="780">
                <a:solidFill>
                  <a:srgbClr val="1E293B"/>
                </a:solidFill>
              </a:rPr>
              <a:t> Pemisahan data mutasi harian dan arsip lampau &gt; 90 hari untuk menjaga latency query MySQL selalu di bawah 15ms.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" y="5897880"/>
            <a:ext cx="530352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800">
                <a:solidFill>
                  <a:srgbClr val="1E293B"/>
                </a:solidFill>
              </a:rPr>
              <a:t>• Low-Latency Local JSON Cache:</a:t>
            </a:r>
            <a:r>
              <a:rPr b="0" sz="780">
                <a:solidFill>
                  <a:srgbClr val="1E293B"/>
                </a:solidFill>
              </a:rPr>
              <a:t> Konfigurasi dinamis (SMV per style baju, kalender hari kerja/shift, preferensi analytics) dicache lokal untuk meminimalkan beban I/O database.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63840" y="868680"/>
            <a:ext cx="2926080" cy="329184"/>
          </a:xfrm>
          <a:prstGeom prst="roundRect">
            <a:avLst/>
          </a:prstGeom>
          <a:solidFill>
            <a:srgbClr val="0E4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914400"/>
            <a:ext cx="2926080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PENGUJIAN KONEKSI DATA REAL-TIME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852160" y="1325880"/>
            <a:ext cx="1737360" cy="292608"/>
          </a:xfrm>
          <a:prstGeom prst="roundRect">
            <a:avLst/>
          </a:prstGeom>
          <a:solidFill>
            <a:srgbClr val="028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52160" y="1371600"/>
            <a:ext cx="173736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KOMPONEN KONEKSI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0" y="1325880"/>
            <a:ext cx="1920240" cy="292608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0" y="1371600"/>
            <a:ext cx="192024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METODE PENGUJIAN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875520" y="1325880"/>
            <a:ext cx="1920240" cy="292608"/>
          </a:xfrm>
          <a:prstGeom prst="round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75520" y="1371600"/>
            <a:ext cx="192024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HASIL &amp; STATUS VALIDASI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52160" y="1719072"/>
            <a:ext cx="1737360" cy="475488"/>
          </a:xfrm>
          <a:prstGeom prst="rect">
            <a:avLst/>
          </a:prstGeom>
          <a:solidFill>
            <a:srgbClr val="E0F2FE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97880" y="1783080"/>
            <a:ext cx="164592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00" b="1" i="0">
                <a:solidFill>
                  <a:srgbClr val="1E293B"/>
                </a:solidFill>
              </a:rPr>
              <a:t>Database MySQL\n(db_dashboardgm)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07808" y="1810512"/>
            <a:ext cx="164592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100" b="1" i="0">
                <a:solidFill>
                  <a:srgbClr val="0E4D82"/>
                </a:solidFill>
              </a:rPr>
              <a:t>→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72400" y="1719072"/>
            <a:ext cx="1920240" cy="475488"/>
          </a:xfrm>
          <a:prstGeom prst="rect">
            <a:avLst/>
          </a:prstGeom>
          <a:solidFill>
            <a:srgbClr val="DCFCE7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18120" y="1755648"/>
            <a:ext cx="1828800" cy="4114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750" b="0" i="0">
                <a:solidFill>
                  <a:srgbClr val="1E293B"/>
                </a:solidFill>
              </a:rPr>
              <a:t>Stress test query Active Record &amp; pooling (100 simultaneous req)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10928" y="1810512"/>
            <a:ext cx="164592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100" b="1" i="0">
                <a:solidFill>
                  <a:srgbClr val="0E4D82"/>
                </a:solidFill>
              </a:rPr>
              <a:t>→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875520" y="1719072"/>
            <a:ext cx="1920240" cy="475488"/>
          </a:xfrm>
          <a:prstGeom prst="rect">
            <a:avLst/>
          </a:prstGeom>
          <a:solidFill>
            <a:srgbClr val="FEF3C7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921240" y="1755648"/>
            <a:ext cx="1828800" cy="4114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750" b="1" i="0">
                <a:solidFill>
                  <a:srgbClr val="1E293B"/>
                </a:solidFill>
              </a:rPr>
              <a:t>Latency &lt; 15ms, Zero Data Loss, Integritas Relasi 100% [PASS]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852160" y="2286000"/>
            <a:ext cx="1737360" cy="475488"/>
          </a:xfrm>
          <a:prstGeom prst="rect">
            <a:avLst/>
          </a:prstGeom>
          <a:solidFill>
            <a:srgbClr val="E0F2FE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897880" y="2350008"/>
            <a:ext cx="164592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00" b="1" i="0">
                <a:solidFill>
                  <a:srgbClr val="1E293B"/>
                </a:solidFill>
              </a:rPr>
              <a:t>Pipeline Otomasi RPA\n(RPA_Master.exe)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07808" y="2377440"/>
            <a:ext cx="164592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100" b="1" i="0">
                <a:solidFill>
                  <a:srgbClr val="0E4D82"/>
                </a:solidFill>
              </a:rPr>
              <a:t>→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772400" y="2286000"/>
            <a:ext cx="1920240" cy="475488"/>
          </a:xfrm>
          <a:prstGeom prst="rect">
            <a:avLst/>
          </a:prstGeom>
          <a:solidFill>
            <a:srgbClr val="DCFCE7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18120" y="2322576"/>
            <a:ext cx="1828800" cy="4114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750" b="0" i="0">
                <a:solidFill>
                  <a:srgbClr val="1E293B"/>
                </a:solidFill>
              </a:rPr>
              <a:t>Simulasi cron 90 mnt &amp; on-demand API (/api/run-download)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710928" y="2377440"/>
            <a:ext cx="164592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100" b="1" i="0">
                <a:solidFill>
                  <a:srgbClr val="0E4D82"/>
                </a:solidFill>
              </a:rPr>
              <a:t>→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875520" y="2286000"/>
            <a:ext cx="1920240" cy="475488"/>
          </a:xfrm>
          <a:prstGeom prst="rect">
            <a:avLst/>
          </a:prstGeom>
          <a:solidFill>
            <a:srgbClr val="FEF3C7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921240" y="2322576"/>
            <a:ext cx="1828800" cy="4114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750" b="1" i="0">
                <a:solidFill>
                  <a:srgbClr val="1E293B"/>
                </a:solidFill>
              </a:rPr>
              <a:t>Process-Lock aktif, Auto-Recovery, Zero Race Condition [PASS]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852160" y="2852928"/>
            <a:ext cx="1737360" cy="475488"/>
          </a:xfrm>
          <a:prstGeom prst="rect">
            <a:avLst/>
          </a:prstGeom>
          <a:solidFill>
            <a:srgbClr val="E0F2FE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897880" y="2916936"/>
            <a:ext cx="164592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00" b="1" i="0">
                <a:solidFill>
                  <a:srgbClr val="1E293B"/>
                </a:solidFill>
              </a:rPr>
              <a:t>Sinkronisasi Client Real-Time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07808" y="2944368"/>
            <a:ext cx="164592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100" b="1" i="0">
                <a:solidFill>
                  <a:srgbClr val="0E4D82"/>
                </a:solidFill>
              </a:rPr>
              <a:t>→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772400" y="2852928"/>
            <a:ext cx="1920240" cy="475488"/>
          </a:xfrm>
          <a:prstGeom prst="rect">
            <a:avLst/>
          </a:prstGeom>
          <a:solidFill>
            <a:srgbClr val="DCFCE7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818120" y="2889504"/>
            <a:ext cx="1828800" cy="4114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750" b="0" i="0">
                <a:solidFill>
                  <a:srgbClr val="1E293B"/>
                </a:solidFill>
              </a:rPr>
              <a:t>Uji wall-clock refresh (:00 &amp; :30) + Pre-Hydration payload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710928" y="2944368"/>
            <a:ext cx="164592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100" b="1" i="0">
                <a:solidFill>
                  <a:srgbClr val="0E4D82"/>
                </a:solidFill>
              </a:rPr>
              <a:t>→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875520" y="2852928"/>
            <a:ext cx="1920240" cy="475488"/>
          </a:xfrm>
          <a:prstGeom prst="rect">
            <a:avLst/>
          </a:prstGeom>
          <a:solidFill>
            <a:srgbClr val="FEF3C7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921240" y="2889504"/>
            <a:ext cx="1828800" cy="4114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750" b="1" i="0">
                <a:solidFill>
                  <a:srgbClr val="1E293B"/>
                </a:solidFill>
              </a:rPr>
              <a:t>Render instan 0ms delay, payload ~35KB, Uptime 24/7 TV [PASS]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863840" y="3493008"/>
            <a:ext cx="2926080" cy="329184"/>
          </a:xfrm>
          <a:prstGeom prst="roundRect">
            <a:avLst/>
          </a:prstGeom>
          <a:solidFill>
            <a:srgbClr val="0E4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863840" y="3538728"/>
            <a:ext cx="2926080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DEVELOPMENT DASHBOARD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852160" y="3913632"/>
            <a:ext cx="59436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>
                <a:solidFill>
                  <a:srgbClr val="1E293B"/>
                </a:solidFill>
              </a:rPr>
              <a:t>• Arsitektur SPA Berbasis CodeIgniter 3: Frontend terpadu Vanilla JS + CSS3 yang ringan, responsif, dan optimal untuk layar monitor TV pabrik &amp; desktop.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852160" y="4251960"/>
            <a:ext cx="59436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>
                <a:solidFill>
                  <a:srgbClr val="1E293B"/>
                </a:solidFill>
              </a:rPr>
              <a:t>• Instant Server-Side Pre-Hydration: Injeksi data awal via INITIAL_DASHBOARD_PAYLOAD saat HTML disajikan, mengeliminasi screen flickering / delay loading.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852160" y="4590288"/>
            <a:ext cx="59436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>
                <a:solidFill>
                  <a:srgbClr val="1E293B"/>
                </a:solidFill>
              </a:rPr>
              <a:t>• Multi-Delivery Scope Dynamic Switcher: Fleksibilitas memilih rentang 1, 2, 4, atau 6 delivery dengan persistensi preferensi otomatis berbasis browser cookie.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852160" y="4928616"/>
            <a:ext cx="59436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>
                <a:solidFill>
                  <a:srgbClr val="1E293B"/>
                </a:solidFill>
              </a:rPr>
              <a:t>• Panel Admin Terpadu GM (Protected Session): Manajemen terproteksi untuk konfigurasi Style SMV, Toggle Direct Aktual, Kalender Hari Kerja, dan visibilitas metrik.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852160" y="5266944"/>
            <a:ext cx="59436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>
                <a:solidFill>
                  <a:srgbClr val="1E293B"/>
                </a:solidFill>
              </a:rPr>
              <a:t>• Mesin Evaluasi Analytics &amp; CAP: Deteksi otomatis status risiko operasional (Good / Watch / Risk) serta formulasi saran tindakan (Corrective Action Plan) harian.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852160" y="5605272"/>
            <a:ext cx="59436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>
                <a:solidFill>
                  <a:srgbClr val="1E293B"/>
                </a:solidFill>
              </a:rPr>
              <a:t>• Dynamic Excel Report Exporter: Fitur ekspor data tabel Material To Load ke format spreadsheet secara dinamis menyesuaikan filter periode delivery aktif.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852160" y="5943600"/>
            <a:ext cx="59436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>
                <a:solidFill>
                  <a:srgbClr val="1E293B"/>
                </a:solidFill>
              </a:rPr>
              <a:t>• Wall-Clock Aligned Auto-Refresh: Pembaruan data otomatis tepat pada menit :00 dan :30 setiap jam secara sinkron dengan jam dinding pabrik &amp; status live pulse.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852160" y="6281928"/>
            <a:ext cx="59436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>
                <a:solidFill>
                  <a:srgbClr val="1E293B"/>
                </a:solidFill>
              </a:rPr>
              <a:t>• Sistem Diagnostik &amp; Centralized Logging: Pemantauan kesehatan koneksi data terintegrasi dengan file log terpusat (scheduler.log) dan opsi trigger manual via UI.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