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0241280" cy="475488"/>
          </a:xfrm>
          <a:prstGeom prst="rect">
            <a:avLst/>
          </a:prstGeom>
          <a:solidFill>
            <a:srgbClr val="10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9966960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IRL 5 (BAGIAN 1) : INTEGRASI DATABASE &amp; PENGUJIAN KONEKSI DATA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841248"/>
            <a:ext cx="256032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886968"/>
            <a:ext cx="256032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INTEGRASI DATABASE &amp; PIPELINE ETL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7160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Accessories RPA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1691640"/>
            <a:ext cx="1517904" cy="41148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1719072"/>
            <a:ext cx="1517904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CONTROLIST.xlsx\n(Playwright CIUROX)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48840" y="137160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APS RPA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12848" y="1691640"/>
            <a:ext cx="1517904" cy="41148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12848" y="1719072"/>
            <a:ext cx="1517904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Export JO.xlsx\n(Win32 GUI Automation)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77639" y="1325880"/>
            <a:ext cx="164592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39" y="1371600"/>
            <a:ext cx="1645920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00" b="1" i="0">
                <a:solidFill>
                  <a:srgbClr val="1E293B"/>
                </a:solidFill>
              </a:rPr>
              <a:t>Engage Warehouse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41648" y="1691640"/>
            <a:ext cx="1517904" cy="411480"/>
          </a:xfrm>
          <a:prstGeom prst="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41648" y="1719072"/>
            <a:ext cx="1517904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750" b="0" i="0">
                <a:solidFill>
                  <a:srgbClr val="1E293B"/>
                </a:solidFill>
              </a:rPr>
              <a:t>Storage 32 &amp; 32a\n(sync_engage_transactions.php)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971800" y="2194560"/>
            <a:ext cx="0" cy="256032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43000" y="2468880"/>
            <a:ext cx="36576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2514600"/>
            <a:ext cx="365760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050" b="1" i="0">
                <a:solidFill>
                  <a:srgbClr val="0E4D82"/>
                </a:solidFill>
              </a:rPr>
              <a:t>Pipeline ETL &amp; Data Cleansing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2788920"/>
            <a:ext cx="3566160" cy="29260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Streaming Native XML Parser (No-Leak) • Normalisasi Nomor JO • Sanitasi Null/Date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1800" y="3182112"/>
            <a:ext cx="0" cy="246888"/>
          </a:xfrm>
          <a:prstGeom prst="line">
            <a:avLst/>
          </a:prstGeom>
          <a:ln w="19050">
            <a:solidFill>
              <a:srgbClr val="0E4D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Can 23"/>
          <p:cNvSpPr/>
          <p:nvPr/>
        </p:nvSpPr>
        <p:spPr>
          <a:xfrm>
            <a:off x="1737360" y="3474720"/>
            <a:ext cx="2468880" cy="594360"/>
          </a:xfrm>
          <a:prstGeom prst="can">
            <a:avLst/>
          </a:prstGeom>
          <a:solidFill>
            <a:srgbClr val="FFFFFF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37360" y="3611880"/>
            <a:ext cx="2468880" cy="41148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950" b="1" i="0">
                <a:solidFill>
                  <a:srgbClr val="0E4D82"/>
                </a:solidFill>
              </a:rPr>
              <a:t>Database MySQL\n(db_dashboardgm)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3401568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tb_engage_transactions: Staging Mutasi Live In/Out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621024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tb_engage_archieve: Auto-Rotasi Arsip Lampau &gt; 90 Hari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43400" y="3840480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engage_daily_history &amp; dashboard_heat_history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43400" y="4059936"/>
            <a:ext cx="1828800" cy="219456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750" b="0" i="0">
                <a:solidFill>
                  <a:srgbClr val="1E293B"/>
                </a:solidFill>
              </a:rPr>
              <a:t>- - - - &gt; Local JSON Cache: SMV, Kalender Kerja, Analytics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" y="4389120"/>
            <a:ext cx="548640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000" b="1" i="0">
                <a:solidFill>
                  <a:srgbClr val="0E4D82"/>
                </a:solidFill>
              </a:rPr>
              <a:t>Keterangan Integrasi Database 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" y="4681728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Dual Data Source Handshake:</a:t>
            </a:r>
            <a:r>
              <a:rPr b="0" sz="819">
                <a:solidFill>
                  <a:srgbClr val="1E293B"/>
                </a:solidFill>
              </a:rPr>
              <a:t> Mengintegrasikan Active Record MySQL (db_dashboardgm) dengan streaming XML reader untuk file Excel (proses ribuan baris &lt; 1 detik tanpa memory leak).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157216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Atomic Upsert &amp; Deduplikasi:</a:t>
            </a:r>
            <a:r>
              <a:rPr b="0" sz="819">
                <a:solidFill>
                  <a:srgbClr val="1E293B"/>
                </a:solidFill>
              </a:rPr>
              <a:t> Penyeragaman transaksi Engage dengan pencegahan duplikasi data melalui komposit unique key (udef_3 / udef_4).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632704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Automated Retention &amp; Archiving:</a:t>
            </a:r>
            <a:r>
              <a:rPr b="0" sz="819">
                <a:solidFill>
                  <a:srgbClr val="1E293B"/>
                </a:solidFill>
              </a:rPr>
              <a:t> Pemisahan data mutasi harian dan arsip lampau &gt; 90 hari untuk menjaga latency query MySQL selalu di bawah 15ms.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6108192"/>
            <a:ext cx="55778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850">
                <a:solidFill>
                  <a:srgbClr val="1E293B"/>
                </a:solidFill>
              </a:rPr>
              <a:t>• Low-Latency Local JSON Cache:</a:t>
            </a:r>
            <a:r>
              <a:rPr b="0" sz="819">
                <a:solidFill>
                  <a:srgbClr val="1E293B"/>
                </a:solidFill>
              </a:rPr>
              <a:t> Konfigurasi dinamis (SMV per style baju, kalender hari kerja/shift, preferensi analytics) dicache lokal untuk meminimalkan beban I/O database.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680960" y="841248"/>
            <a:ext cx="310896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80960" y="886968"/>
            <a:ext cx="310896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PENGUJIAN KONEKSI DATA REAL-TIME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26480" y="1325880"/>
            <a:ext cx="1737360" cy="320040"/>
          </a:xfrm>
          <a:prstGeom prst="roundRect">
            <a:avLst/>
          </a:prstGeom>
          <a:solidFill>
            <a:srgbClr val="0288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1371600"/>
            <a:ext cx="173736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KOMPONEN KONEKSI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1325880"/>
            <a:ext cx="2011680" cy="3200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371600"/>
            <a:ext cx="2011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METODE PENGUJIAN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241280" y="1325880"/>
            <a:ext cx="1645920" cy="320040"/>
          </a:xfrm>
          <a:prstGeom prst="roundRect">
            <a:avLst/>
          </a:prstGeom>
          <a:solidFill>
            <a:srgbClr val="FB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241280" y="1371600"/>
            <a:ext cx="16459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HASIL &amp; STATUS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1783080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1892807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Database MySQL\n(db_dashboardgm)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82127" y="203911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46720" y="1783080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92440" y="1874519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Stress test query Active Record &amp; pooling\n(100 concurrent requests simultan)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76688" y="203911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241280" y="1783080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287000" y="1874519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Latency 8 - 14 ms, Zero Data Loss,\nIntegritas Relasi 100% [PASS]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126480" y="2651760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72200" y="2761488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Pipeline Otomasi RPA\n(RPA_Master.exe)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82127" y="2907791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46720" y="2651760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92440" y="2743200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Simulasi cron berkala 90 mnt (07:00-00:00)\n&amp; on-demand API (/api/run-download)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76688" y="2907791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41280" y="2651760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87000" y="2743200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Process-Lock aktif, Auto-Recovery,\nZero Race Condition [PASS]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520439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3630168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Sinkronisasi Client\nReal-Time (SPA Web)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82127" y="377647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046720" y="3520439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092440" y="3611879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Uji wall-clock aligned refresh (:00 &amp; :30)\n+ Server-Side Pre-Hydration payload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076688" y="377647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241280" y="3520439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287000" y="3611879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Render instan 0ms delay awal,\nPayload ~35KB, Uptime 24/7 [PASS]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126480" y="4389120"/>
            <a:ext cx="1737360" cy="777240"/>
          </a:xfrm>
          <a:prstGeom prst="rect">
            <a:avLst/>
          </a:prstGeom>
          <a:solidFill>
            <a:srgbClr val="E0F2FE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72200" y="4498848"/>
            <a:ext cx="1645920" cy="59436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50" b="1" i="0">
                <a:solidFill>
                  <a:srgbClr val="1E293B"/>
                </a:solidFill>
              </a:rPr>
              <a:t>Integritas Validasi\nOrder &amp; Aksesoris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882127" y="464515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046720" y="4389120"/>
            <a:ext cx="2011680" cy="777240"/>
          </a:xfrm>
          <a:prstGeom prst="rect">
            <a:avLst/>
          </a:prstGeom>
          <a:solidFill>
            <a:srgbClr val="DCFCE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092440" y="4480559"/>
            <a:ext cx="192024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0" i="0">
                <a:solidFill>
                  <a:srgbClr val="1E293B"/>
                </a:solidFill>
              </a:rPr>
              <a:t>Verifikasi pencocokan JO APS + Engage\nterhadap status COMPLETED CIUROX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76688" y="4645152"/>
            <a:ext cx="146304" cy="27432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200" b="1" i="0">
                <a:solidFill>
                  <a:srgbClr val="0E4D82"/>
                </a:solidFill>
              </a:rPr>
              <a:t>→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241280" y="4389120"/>
            <a:ext cx="1645920" cy="777240"/>
          </a:xfrm>
          <a:prstGeom prst="rect">
            <a:avLst/>
          </a:prstGeom>
          <a:solidFill>
            <a:srgbClr val="FEF3C7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287000" y="4480559"/>
            <a:ext cx="1554480" cy="62179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800" b="1" i="0">
                <a:solidFill>
                  <a:srgbClr val="1E293B"/>
                </a:solidFill>
              </a:rPr>
              <a:t>Pencocokan JO 100% valid,\nOrder RTL tersaring presisi [PASS]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126480" y="5349240"/>
            <a:ext cx="5760720" cy="1143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263640" y="5440680"/>
            <a:ext cx="548640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00" b="1" i="0">
                <a:solidFill>
                  <a:srgbClr val="0E4D82"/>
                </a:solidFill>
              </a:rPr>
              <a:t>Kesimpulan Hasil Pengujian Sistem Real-Time 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5715000"/>
            <a:ext cx="5486400" cy="6858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50" b="0" i="0">
                <a:solidFill>
                  <a:srgbClr val="1E293B"/>
                </a:solidFill>
              </a:rPr>
              <a:t>Seluruh jalur komunikasi data dari RPA -&gt; MySQL -&gt; Cache -&gt; Browser Web telah teruji tanpa kendala latensi, bebas memory leak, dan aman dijalankan 24 jam non-stop pada layar TV monitor produksi pabrik.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0241280" cy="475488"/>
          </a:xfrm>
          <a:prstGeom prst="rect">
            <a:avLst/>
          </a:prstGeom>
          <a:solidFill>
            <a:srgbClr val="10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9966960" cy="34747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IRL 5 (BAGIAN 2) : DEVELOPMENT DASHBOARD &amp; IMPLEMENTASI FITUR TERBANGUN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45920" y="841248"/>
            <a:ext cx="274320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886968"/>
            <a:ext cx="274320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DASHBOARD PUBLIK &amp; ARSITEKTUR SPA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32588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39903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Arsitektur Single Page Application (SPA):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45919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Dibangun menggunakan CodeIgniter 3 di backend serta Vanilla JS + CSS3 modern di frontend. Menghasilkan antarmuka yang sangat responsif, stabil, dan optimal untuk layar monitor TV pabrik maupun browser desktop.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33172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40487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Instant Server-Side Pre-Hydration: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51760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Menyematkan payload data awal secara langsung ke variabel DOM (INITIAL_DASHBOARD_PAYLOAD) saat HTML disajikan. Mengeliminasi efek blank screen dan loading spinner saat halaman pertama kali diakses.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333756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41071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Multi-Delivery Scope Switcher (1, 2, 4, 6 Delivery):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3657600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Memungkinkan pengguna beralih fleksibel antara cakupan 1, 2, 4, atau 6 delivery. Pilihan periode aktif disimpan otomatis ke dalam browser cookie (heatDeliveryCount) untuk kenyamanan pengguna.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34340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441655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Dynamic Excel Report Exporter: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663440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Tombol ekspor laporan Material To Load yang menghasilkan file spreadsheet (.xls) terformat rapi yang menyesuaikan label periode aktif yang sedang dipilih secara dinamis.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349240"/>
            <a:ext cx="548640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5422392"/>
            <a:ext cx="530352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Wall-Clock Aligned Auto-Refresh: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669279"/>
            <a:ext cx="530352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Mekanisme fetch data otomatis yang tersinkronisasi presisi dengan jam dinding pada menit :00 dan :30 setiap jam, dilengkapi visual live pulse indicator untuk memastikan data selalu mutakhir.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841248"/>
            <a:ext cx="2926080" cy="329184"/>
          </a:xfrm>
          <a:prstGeom prst="roundRect">
            <a:avLst/>
          </a:prstGeom>
          <a:solidFill>
            <a:srgbClr val="0E4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80960" y="886968"/>
            <a:ext cx="2926080" cy="256032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PANEL ADMIN &amp; ENGINE ANALYTICS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32588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139903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Panel Admin Terpadu GM (Protected Session):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1645919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Modul administrasi terlindung autentikasi session portal (tbl_login) dengan sidebar navigasi interaktif tanpa reload untuk manajemen konfigurasi sentral sistem.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233172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240487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Manajemen Katalog Style SMV (Standard Minute Value):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651760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Antarmuka komprehensif dengan pagination, search bar filter, input nilai SMV per style artikel, dan toggle visibilitas style yang ditampilkan di dashboard publik.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333756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41071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Mode Direct Aktual &amp; Override Kapasitas: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3657600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Kemampuan beralih fleksibel antara input manual angka Direct Aktual oleh supervisor atau mengandalkan rumus kalkulasi otomatis sistem.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34340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441655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Kalender Hari Kerja &amp; Manajemen Shift: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663440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Antarmuka kalender visual interaktif untuk mengatur hari kerja penuh (1), libur (0), setengah hari (0.5), dan seperempat hari (0.25) per periode delivery aktif.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5349240"/>
            <a:ext cx="5623560" cy="932688"/>
          </a:xfrm>
          <a:prstGeom prst="roundRect">
            <a:avLst/>
          </a:prstGeom>
          <a:solidFill>
            <a:srgbClr val="F8FAFC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422392"/>
            <a:ext cx="5440680" cy="228600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950" b="1" i="0">
                <a:solidFill>
                  <a:srgbClr val="0E4D82"/>
                </a:solidFill>
              </a:rPr>
              <a:t>Mesin Evaluasi Analytics &amp; Action Plan (CAP):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669279"/>
            <a:ext cx="5440680" cy="566928"/>
          </a:xfrm>
          <a:prstGeom prst="rect">
            <a:avLst/>
          </a:prstGeom>
          <a:noFill/>
        </p:spPr>
        <p:txBody>
          <a:bodyPr wrap="square" lIns="27432" tIns="27432" rIns="27432" bIns="27432">
            <a:spAutoFit/>
          </a:bodyPr>
          <a:lstStyle/>
          <a:p>
            <a:pPr algn="l"/>
            <a:r>
              <a:rPr sz="830" b="0" i="0">
                <a:solidFill>
                  <a:srgbClr val="1E293B"/>
                </a:solidFill>
              </a:rPr>
              <a:t>Sistem cerdas yang mengevaluasi kepatuhan delivery lampau, memberikan status kondisi operasional (Good / Watch / Risk), serta merumuskan Corrective Action Plan harian secara otomatis.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" y="91440"/>
            <a:ext cx="12008815" cy="6675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182880"/>
            <a:ext cx="10241280" cy="475488"/>
          </a:xfrm>
          <a:prstGeom prst="rect">
            <a:avLst/>
          </a:prstGeom>
          <a:solidFill>
            <a:srgbClr val="1052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46888"/>
            <a:ext cx="9966960" cy="34747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</a:rPr>
              <a:t>IRL 5 (LAMPIRAN BUKTI) : DOKUMENTASI DATA, BENCHMARK &amp; LOG PENGUJIAN SISTEM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868680"/>
            <a:ext cx="3703320" cy="5715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79" y="960120"/>
            <a:ext cx="35204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1" i="0">
                <a:solidFill>
                  <a:srgbClr val="0E4D82"/>
                </a:solidFill>
              </a:rPr>
              <a:t>1. Bukti Pengujian Database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1216152"/>
            <a:ext cx="35204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80" b="0" i="1">
                <a:solidFill>
                  <a:srgbClr val="1E293B"/>
                </a:solidFill>
              </a:rPr>
              <a:t>Sumber: Eksekusi langsung ke MySQLi db_dashboardgm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79" y="1463040"/>
            <a:ext cx="3520440" cy="397763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3429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38BDF8"/>
                </a:solidFill>
                <a:latin typeface="Consolas"/>
              </a:rPr>
              <a:t>=== BENCHMARK DATABASE MySQL (db_dashboardgm) ===
Target Server: localhost:3306 (MySQLi Driver)
Connection Handshake : 4.42 ms
Stress Test (100x Q) : 6.02 ms (0.06 ms/q)
-- STATUS &amp; LATENCY TABEL AKTIF --
* tb_engage_transactions:
  Rows   : 1,790 baris (mutasi live)
  Latency: 9.30 ms (SELECT COUNT)
* tb_engage_archieve:
  Rows   : 44,821 baris (arsip &gt; 90 hari)
  Latency: 19.83 ms (SELECT COUNT)
* engage_daily_history:
  Rows   : 20 baris (Latency: 0.75 ms)
* dashboard_heat_history:
  Rows   : 144 baris (Latency: 0.63 ms)
[STATUS: PASS - ZERO DEADLOCK &amp; NO LATENCY]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5532120"/>
            <a:ext cx="35204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34290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Fakta: Pemisahan partisi arsip berhasil menjaga tabel aktif (1.790 rows) merespons query di bawah 10 ms, meskipun tabel arsip menampung hampir 45 ribu baris.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868680"/>
            <a:ext cx="3703320" cy="5715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79" y="960120"/>
            <a:ext cx="35204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1" i="0">
                <a:solidFill>
                  <a:srgbClr val="0E4D82"/>
                </a:solidFill>
              </a:rPr>
              <a:t>2. Bukti Log Otomasi RPA Master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79" y="1216152"/>
            <a:ext cx="35204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80" b="0" i="1">
                <a:solidFill>
                  <a:srgbClr val="1E293B"/>
                </a:solidFill>
              </a:rPr>
              <a:t>Sumber: rpa/logs/scheduler.log (Aktif Hari Ini)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1463040"/>
            <a:ext cx="3520440" cy="397763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1508760"/>
            <a:ext cx="3429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38BDF8"/>
                </a:solidFill>
                <a:latin typeface="Consolas"/>
              </a:rPr>
              <a:t>=== LOG AKTUAL: rpa/logs/scheduler.log ===
[2026-09-10 13:08:54] [APS RPA] File tersimpan:
  ...\JO_part2.xlsx
[2026-09-10 13:09:07] [APS RPA] Memulai penggabungan:
  JO_part1.xlsx + JO_part2.xlsx -&gt; JO.xlsx
[2026-09-10 13:10:01] [APS RPA] Menambahkan 2880 baris.
[2026-09-10 13:10:04] [APS RPA] File gabungan berhasil:
  JO.xlsx (Total baris: 5,336 baris)
[2026-09-10 13:10:06] [Master Scheduler]
  RPA APS RPA selesai dengan sukses.
[2026-09-10 13:10:06] [Master Scheduler]
  === SELESAI DOWNLOAD SEMUA RPA ===
[2026-09-10 13:11:06] [Master Scheduler]
  Run berikutnya: 2026-09-10 14:30:00 (Interval 90m)
[STATUS: PASS - SCHEDULER &amp; LOCK AKTIF 100%]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5532120"/>
            <a:ext cx="35204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43400" y="5577840"/>
            <a:ext cx="34290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Fakta: Scheduler otomatis berjalan setiap 1,5 jam (90 menit). Skrip penggabung berhasil memproses 5.336 baris data JO tanpa ada konflik proses maupun kegagalan.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868680"/>
            <a:ext cx="3703320" cy="5715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4D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960120"/>
            <a:ext cx="3520440" cy="256032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1050" b="1" i="0">
                <a:solidFill>
                  <a:srgbClr val="0E4D82"/>
                </a:solidFill>
              </a:rPr>
              <a:t>3. Bukti Pre-Hydration &amp; Client Sync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1216152"/>
            <a:ext cx="3520440" cy="201168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780" b="0" i="1">
                <a:solidFill>
                  <a:srgbClr val="1E293B"/>
                </a:solidFill>
              </a:rPr>
              <a:t>Sumber: web/application/views/dashboards/heat/index.php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1463040"/>
            <a:ext cx="3520440" cy="3977639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1508760"/>
            <a:ext cx="342900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>
                <a:solidFill>
                  <a:srgbClr val="38BDF8"/>
                </a:solidFill>
                <a:latin typeface="Consolas"/>
              </a:rPr>
              <a:t>=== SERVER-SIDE PRE-HYDRATION ARCHITECTURE ===
// Injeksi server ke DOM HTML saat request masuk
&lt;script&gt;
  window.INITIAL_DASHBOARD_PAYLOAD = 
    &lt;?= json_encode(); ?&gt;;
// Browser merender chart &amp; tabel saat FCP: 0ms delay!
  renderAllCharts(window.INITIAL_DASHBOARD_PAYLOAD);
&lt;/script&gt;
=== WALL-CLOCK ALIGNED AUTO-REFRESH SINKRON ===
// Hitung sisa milidetik ke menit :00 atau :30 terdekat
function scheduleNextAlignedRefresh() {
  var now = new Date();
  var m = now.getMinutes();
  var target = (m &lt; 30) ? 30 : 60;
  var ms = ((target - m) * 60 - now.getSeconds()) * 1000;
  setTimeout(fetchLatestDashboardData, ms);
}
[STATUS: PASS - 0ms WAIT TIME &amp; SINKRON JAM PABRIK]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5532120"/>
            <a:ext cx="35204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5577840"/>
            <a:ext cx="3429000" cy="868680"/>
          </a:xfrm>
          <a:prstGeom prst="rect">
            <a:avLst/>
          </a:prstGeom>
          <a:noFill/>
        </p:spPr>
        <p:txBody>
          <a:bodyPr wrap="square" lIns="36576" tIns="36576" rIns="36576" bIns="36576">
            <a:spAutoFit/>
          </a:bodyPr>
          <a:lstStyle/>
          <a:p>
            <a:pPr algn="l"/>
            <a:r>
              <a:rPr sz="800" b="0" i="0">
                <a:solidFill>
                  <a:srgbClr val="1E293B"/>
                </a:solidFill>
              </a:rPr>
              <a:t>Fakta: Pre-hydration menjamin dashboard di layar TV monitor produksi langsung tampil seketika (0 ms jeda API) dan refresh otomatis presisi di menit :00 dan :30 setiap jam.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