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008815" cy="6675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 y="182880"/>
            <a:ext cx="10241280" cy="475488"/>
          </a:xfrm>
          <a:prstGeom prst="rect">
            <a:avLst/>
          </a:prstGeom>
          <a:solidFill>
            <a:srgbClr val="1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46888"/>
            <a:ext cx="9966960" cy="347472"/>
          </a:xfrm>
          <a:prstGeom prst="rect">
            <a:avLst/>
          </a:prstGeom>
          <a:noFill/>
        </p:spPr>
        <p:txBody>
          <a:bodyPr wrap="square" lIns="36576" tIns="36576" rIns="36576" bIns="36576">
            <a:spAutoFit/>
          </a:bodyPr>
          <a:lstStyle/>
          <a:p>
            <a:pPr algn="l"/>
            <a:r>
              <a:rPr sz="1350" b="1" i="0">
                <a:solidFill>
                  <a:srgbClr val="FFFFFF"/>
                </a:solidFill>
              </a:rPr>
              <a:t>IRL 5 (BAGIAN 1) : INTEGRASI DATABASE &amp; PENGUJIAN KONEKSI DATA REAL-TIME</a:t>
            </a:r>
          </a:p>
        </p:txBody>
      </p:sp>
      <p:sp>
        <p:nvSpPr>
          <p:cNvPr id="5" name="Rounded Rectangle 4"/>
          <p:cNvSpPr/>
          <p:nvPr/>
        </p:nvSpPr>
        <p:spPr>
          <a:xfrm>
            <a:off x="1645920" y="841248"/>
            <a:ext cx="2560320" cy="329184"/>
          </a:xfrm>
          <a:prstGeom prst="roundRect">
            <a:avLst/>
          </a:prstGeom>
          <a:solidFill>
            <a:srgbClr val="0E4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886968"/>
            <a:ext cx="2560320" cy="256032"/>
          </a:xfrm>
          <a:prstGeom prst="rect">
            <a:avLst/>
          </a:prstGeom>
          <a:noFill/>
        </p:spPr>
        <p:txBody>
          <a:bodyPr wrap="square" lIns="36576" tIns="36576" rIns="36576" bIns="36576">
            <a:spAutoFit/>
          </a:bodyPr>
          <a:lstStyle/>
          <a:p>
            <a:pPr algn="ctr"/>
            <a:r>
              <a:rPr sz="1100" b="1" i="0">
                <a:solidFill>
                  <a:srgbClr val="FFFFFF"/>
                </a:solidFill>
              </a:rPr>
              <a:t>INTEGRASI DATA OTOMATIS</a:t>
            </a:r>
          </a:p>
        </p:txBody>
      </p:sp>
      <p:sp>
        <p:nvSpPr>
          <p:cNvPr id="7" name="Rectangle 6"/>
          <p:cNvSpPr/>
          <p:nvPr/>
        </p:nvSpPr>
        <p:spPr>
          <a:xfrm>
            <a:off x="320040" y="1325880"/>
            <a:ext cx="1645920" cy="365760"/>
          </a:xfrm>
          <a:prstGeom prst="rect">
            <a:avLst/>
          </a:prstGeom>
          <a:solidFill>
            <a:srgbClr val="FFFFFF"/>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371600"/>
            <a:ext cx="1645920" cy="274320"/>
          </a:xfrm>
          <a:prstGeom prst="rect">
            <a:avLst/>
          </a:prstGeom>
          <a:noFill/>
        </p:spPr>
        <p:txBody>
          <a:bodyPr wrap="square" lIns="36576" tIns="36576" rIns="36576" bIns="36576">
            <a:spAutoFit/>
          </a:bodyPr>
          <a:lstStyle/>
          <a:p>
            <a:pPr algn="ctr"/>
            <a:r>
              <a:rPr sz="900" b="1" i="0">
                <a:solidFill>
                  <a:srgbClr val="1E293B"/>
                </a:solidFill>
              </a:rPr>
              <a:t>Data Aksesoris</a:t>
            </a:r>
          </a:p>
        </p:txBody>
      </p:sp>
      <p:sp>
        <p:nvSpPr>
          <p:cNvPr id="9" name="Rectangle 8"/>
          <p:cNvSpPr/>
          <p:nvPr/>
        </p:nvSpPr>
        <p:spPr>
          <a:xfrm>
            <a:off x="384048" y="1691640"/>
            <a:ext cx="1517904" cy="411480"/>
          </a:xfrm>
          <a:prstGeom prst="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719072"/>
            <a:ext cx="1517904" cy="347472"/>
          </a:xfrm>
          <a:prstGeom prst="rect">
            <a:avLst/>
          </a:prstGeom>
          <a:noFill/>
        </p:spPr>
        <p:txBody>
          <a:bodyPr wrap="square" lIns="36576" tIns="36576" rIns="36576" bIns="36576">
            <a:spAutoFit/>
          </a:bodyPr>
          <a:lstStyle/>
          <a:p>
            <a:pPr algn="ctr"/>
            <a:r>
              <a:rPr sz="800" b="0" i="0">
                <a:solidFill>
                  <a:srgbClr val="1E293B"/>
                </a:solidFill>
              </a:rPr>
              <a:t>Status Kelengkapan\n(Otomatis dari CIUROX)</a:t>
            </a:r>
          </a:p>
        </p:txBody>
      </p:sp>
      <p:sp>
        <p:nvSpPr>
          <p:cNvPr id="11" name="Rectangle 10"/>
          <p:cNvSpPr/>
          <p:nvPr/>
        </p:nvSpPr>
        <p:spPr>
          <a:xfrm>
            <a:off x="2148840" y="1325880"/>
            <a:ext cx="1645920" cy="365760"/>
          </a:xfrm>
          <a:prstGeom prst="rect">
            <a:avLst/>
          </a:prstGeom>
          <a:solidFill>
            <a:srgbClr val="FFFFFF"/>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48840" y="1371600"/>
            <a:ext cx="1645920" cy="274320"/>
          </a:xfrm>
          <a:prstGeom prst="rect">
            <a:avLst/>
          </a:prstGeom>
          <a:noFill/>
        </p:spPr>
        <p:txBody>
          <a:bodyPr wrap="square" lIns="36576" tIns="36576" rIns="36576" bIns="36576">
            <a:spAutoFit/>
          </a:bodyPr>
          <a:lstStyle/>
          <a:p>
            <a:pPr algn="ctr"/>
            <a:r>
              <a:rPr sz="900" b="1" i="0">
                <a:solidFill>
                  <a:srgbClr val="1E293B"/>
                </a:solidFill>
              </a:rPr>
              <a:t>Rencana Produksi</a:t>
            </a:r>
          </a:p>
        </p:txBody>
      </p:sp>
      <p:sp>
        <p:nvSpPr>
          <p:cNvPr id="13" name="Rectangle 12"/>
          <p:cNvSpPr/>
          <p:nvPr/>
        </p:nvSpPr>
        <p:spPr>
          <a:xfrm>
            <a:off x="2212848" y="1691640"/>
            <a:ext cx="1517904" cy="411480"/>
          </a:xfrm>
          <a:prstGeom prst="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12848" y="1719072"/>
            <a:ext cx="1517904" cy="347472"/>
          </a:xfrm>
          <a:prstGeom prst="rect">
            <a:avLst/>
          </a:prstGeom>
          <a:noFill/>
        </p:spPr>
        <p:txBody>
          <a:bodyPr wrap="square" lIns="36576" tIns="36576" rIns="36576" bIns="36576">
            <a:spAutoFit/>
          </a:bodyPr>
          <a:lstStyle/>
          <a:p>
            <a:pPr algn="ctr"/>
            <a:r>
              <a:rPr sz="800" b="0" i="0">
                <a:solidFill>
                  <a:srgbClr val="1E293B"/>
                </a:solidFill>
              </a:rPr>
              <a:t>Target Order &amp; Delivery\n(Otomatis dari APS)</a:t>
            </a:r>
          </a:p>
        </p:txBody>
      </p:sp>
      <p:sp>
        <p:nvSpPr>
          <p:cNvPr id="15" name="Rectangle 14"/>
          <p:cNvSpPr/>
          <p:nvPr/>
        </p:nvSpPr>
        <p:spPr>
          <a:xfrm>
            <a:off x="3977639" y="1325880"/>
            <a:ext cx="1645920" cy="365760"/>
          </a:xfrm>
          <a:prstGeom prst="rect">
            <a:avLst/>
          </a:prstGeom>
          <a:solidFill>
            <a:srgbClr val="FFFFFF"/>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77639" y="1371600"/>
            <a:ext cx="1645920" cy="274320"/>
          </a:xfrm>
          <a:prstGeom prst="rect">
            <a:avLst/>
          </a:prstGeom>
          <a:noFill/>
        </p:spPr>
        <p:txBody>
          <a:bodyPr wrap="square" lIns="36576" tIns="36576" rIns="36576" bIns="36576">
            <a:spAutoFit/>
          </a:bodyPr>
          <a:lstStyle/>
          <a:p>
            <a:pPr algn="ctr"/>
            <a:r>
              <a:rPr sz="900" b="1" i="0">
                <a:solidFill>
                  <a:srgbClr val="1E293B"/>
                </a:solidFill>
              </a:rPr>
              <a:t>Aktual Gudang</a:t>
            </a:r>
          </a:p>
        </p:txBody>
      </p:sp>
      <p:sp>
        <p:nvSpPr>
          <p:cNvPr id="17" name="Rectangle 16"/>
          <p:cNvSpPr/>
          <p:nvPr/>
        </p:nvSpPr>
        <p:spPr>
          <a:xfrm>
            <a:off x="4041648" y="1691640"/>
            <a:ext cx="1517904" cy="411480"/>
          </a:xfrm>
          <a:prstGeom prst="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41648" y="1719072"/>
            <a:ext cx="1517904" cy="347472"/>
          </a:xfrm>
          <a:prstGeom prst="rect">
            <a:avLst/>
          </a:prstGeom>
          <a:noFill/>
        </p:spPr>
        <p:txBody>
          <a:bodyPr wrap="square" lIns="36576" tIns="36576" rIns="36576" bIns="36576">
            <a:spAutoFit/>
          </a:bodyPr>
          <a:lstStyle/>
          <a:p>
            <a:pPr algn="ctr"/>
            <a:r>
              <a:rPr sz="750" b="0" i="0">
                <a:solidFill>
                  <a:srgbClr val="1E293B"/>
                </a:solidFill>
              </a:rPr>
              <a:t>Mutasi Masuk &amp; Keluar\n(Otomatis dari Engage)</a:t>
            </a:r>
          </a:p>
        </p:txBody>
      </p:sp>
      <p:cxnSp>
        <p:nvCxnSpPr>
          <p:cNvPr id="19" name="Connector 18"/>
          <p:cNvCxnSpPr/>
          <p:nvPr/>
        </p:nvCxnSpPr>
        <p:spPr>
          <a:xfrm>
            <a:off x="2971800" y="2194560"/>
            <a:ext cx="0" cy="256032"/>
          </a:xfrm>
          <a:prstGeom prst="line">
            <a:avLst/>
          </a:prstGeom>
          <a:ln w="19050">
            <a:solidFill>
              <a:srgbClr val="0E4D8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143000" y="2468880"/>
            <a:ext cx="3657600" cy="658368"/>
          </a:xfrm>
          <a:prstGeom prst="roundRect">
            <a:avLst/>
          </a:prstGeom>
          <a:solidFill>
            <a:srgbClr val="FFFFFF"/>
          </a:solidFill>
          <a:ln w="19050">
            <a:solidFill>
              <a:srgbClr val="0E4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2514600"/>
            <a:ext cx="3657600" cy="256032"/>
          </a:xfrm>
          <a:prstGeom prst="rect">
            <a:avLst/>
          </a:prstGeom>
          <a:noFill/>
        </p:spPr>
        <p:txBody>
          <a:bodyPr wrap="square" lIns="36576" tIns="36576" rIns="36576" bIns="36576">
            <a:spAutoFit/>
          </a:bodyPr>
          <a:lstStyle/>
          <a:p>
            <a:pPr algn="ctr"/>
            <a:r>
              <a:rPr sz="1050" b="1" i="0">
                <a:solidFill>
                  <a:srgbClr val="0E4D82"/>
                </a:solidFill>
              </a:rPr>
              <a:t>Penyelarasan &amp; Pembersihan Data Otomatis</a:t>
            </a:r>
          </a:p>
        </p:txBody>
      </p:sp>
      <p:sp>
        <p:nvSpPr>
          <p:cNvPr id="22" name="TextBox 21"/>
          <p:cNvSpPr txBox="1"/>
          <p:nvPr/>
        </p:nvSpPr>
        <p:spPr>
          <a:xfrm>
            <a:off x="1188720" y="2788920"/>
            <a:ext cx="3566160" cy="292608"/>
          </a:xfrm>
          <a:prstGeom prst="rect">
            <a:avLst/>
          </a:prstGeom>
          <a:noFill/>
        </p:spPr>
        <p:txBody>
          <a:bodyPr wrap="square" lIns="36576" tIns="36576" rIns="36576" bIns="36576">
            <a:spAutoFit/>
          </a:bodyPr>
          <a:lstStyle/>
          <a:p>
            <a:pPr algn="ctr"/>
            <a:r>
              <a:rPr sz="800" b="0" i="0">
                <a:solidFill>
                  <a:srgbClr val="1E293B"/>
                </a:solidFill>
              </a:rPr>
              <a:t>Pencocokan Job Order Antar Sistem • Pencegahan Data Ganda • Validasi Kesiapan Material</a:t>
            </a:r>
          </a:p>
        </p:txBody>
      </p:sp>
      <p:cxnSp>
        <p:nvCxnSpPr>
          <p:cNvPr id="23" name="Connector 22"/>
          <p:cNvCxnSpPr/>
          <p:nvPr/>
        </p:nvCxnSpPr>
        <p:spPr>
          <a:xfrm>
            <a:off x="2971800" y="3182112"/>
            <a:ext cx="0" cy="246888"/>
          </a:xfrm>
          <a:prstGeom prst="line">
            <a:avLst/>
          </a:prstGeom>
          <a:ln w="19050">
            <a:solidFill>
              <a:srgbClr val="0E4D82"/>
            </a:solidFill>
          </a:ln>
        </p:spPr>
        <p:style>
          <a:lnRef idx="2">
            <a:schemeClr val="accent1"/>
          </a:lnRef>
          <a:fillRef idx="0">
            <a:schemeClr val="accent1"/>
          </a:fillRef>
          <a:effectRef idx="1">
            <a:schemeClr val="accent1"/>
          </a:effectRef>
          <a:fontRef idx="minor">
            <a:schemeClr val="tx1"/>
          </a:fontRef>
        </p:style>
      </p:cxnSp>
      <p:sp>
        <p:nvSpPr>
          <p:cNvPr id="24" name="Can 23"/>
          <p:cNvSpPr/>
          <p:nvPr/>
        </p:nvSpPr>
        <p:spPr>
          <a:xfrm>
            <a:off x="1737360" y="3474720"/>
            <a:ext cx="2468880" cy="594360"/>
          </a:xfrm>
          <a:prstGeom prst="can">
            <a:avLst/>
          </a:prstGeom>
          <a:solidFill>
            <a:srgbClr val="FFFFFF"/>
          </a:solidFill>
          <a:ln w="19050">
            <a:solidFill>
              <a:srgbClr val="0E4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37360" y="3611880"/>
            <a:ext cx="2468880" cy="411480"/>
          </a:xfrm>
          <a:prstGeom prst="rect">
            <a:avLst/>
          </a:prstGeom>
          <a:noFill/>
        </p:spPr>
        <p:txBody>
          <a:bodyPr wrap="square" lIns="36576" tIns="36576" rIns="36576" bIns="36576">
            <a:spAutoFit/>
          </a:bodyPr>
          <a:lstStyle/>
          <a:p>
            <a:pPr algn="ctr"/>
            <a:r>
              <a:rPr sz="950" b="1" i="0">
                <a:solidFill>
                  <a:srgbClr val="0E4D82"/>
                </a:solidFill>
              </a:rPr>
              <a:t>Pusat Data Terpadu\n(Database Dashboard GM)</a:t>
            </a:r>
          </a:p>
        </p:txBody>
      </p:sp>
      <p:sp>
        <p:nvSpPr>
          <p:cNvPr id="26" name="TextBox 25"/>
          <p:cNvSpPr txBox="1"/>
          <p:nvPr/>
        </p:nvSpPr>
        <p:spPr>
          <a:xfrm>
            <a:off x="4343400" y="3401568"/>
            <a:ext cx="1828800" cy="219456"/>
          </a:xfrm>
          <a:prstGeom prst="rect">
            <a:avLst/>
          </a:prstGeom>
          <a:noFill/>
        </p:spPr>
        <p:txBody>
          <a:bodyPr wrap="square" lIns="36576" tIns="36576" rIns="36576" bIns="36576">
            <a:spAutoFit/>
          </a:bodyPr>
          <a:lstStyle/>
          <a:p>
            <a:pPr algn="l"/>
            <a:r>
              <a:rPr sz="750" b="0" i="0">
                <a:solidFill>
                  <a:srgbClr val="1E293B"/>
                </a:solidFill>
              </a:rPr>
              <a:t>- - - - &gt; Data Transaksi Harian Aktif (Mutasi Hari Berjalan)</a:t>
            </a:r>
          </a:p>
        </p:txBody>
      </p:sp>
      <p:sp>
        <p:nvSpPr>
          <p:cNvPr id="27" name="TextBox 26"/>
          <p:cNvSpPr txBox="1"/>
          <p:nvPr/>
        </p:nvSpPr>
        <p:spPr>
          <a:xfrm>
            <a:off x="4343400" y="3621024"/>
            <a:ext cx="1828800" cy="219456"/>
          </a:xfrm>
          <a:prstGeom prst="rect">
            <a:avLst/>
          </a:prstGeom>
          <a:noFill/>
        </p:spPr>
        <p:txBody>
          <a:bodyPr wrap="square" lIns="36576" tIns="36576" rIns="36576" bIns="36576">
            <a:spAutoFit/>
          </a:bodyPr>
          <a:lstStyle/>
          <a:p>
            <a:pPr algn="l"/>
            <a:r>
              <a:rPr sz="750" b="0" i="0">
                <a:solidFill>
                  <a:srgbClr val="1E293B"/>
                </a:solidFill>
              </a:rPr>
              <a:t>- - - - &gt; Arsip Otomatis (&gt; 90 Hari Agar Sistem Cepat)</a:t>
            </a:r>
          </a:p>
        </p:txBody>
      </p:sp>
      <p:sp>
        <p:nvSpPr>
          <p:cNvPr id="28" name="TextBox 27"/>
          <p:cNvSpPr txBox="1"/>
          <p:nvPr/>
        </p:nvSpPr>
        <p:spPr>
          <a:xfrm>
            <a:off x="4343400" y="3840480"/>
            <a:ext cx="1828800" cy="219456"/>
          </a:xfrm>
          <a:prstGeom prst="rect">
            <a:avLst/>
          </a:prstGeom>
          <a:noFill/>
        </p:spPr>
        <p:txBody>
          <a:bodyPr wrap="square" lIns="36576" tIns="36576" rIns="36576" bIns="36576">
            <a:spAutoFit/>
          </a:bodyPr>
          <a:lstStyle/>
          <a:p>
            <a:pPr algn="l"/>
            <a:r>
              <a:rPr sz="750" b="0" i="0">
                <a:solidFill>
                  <a:srgbClr val="1E293B"/>
                </a:solidFill>
              </a:rPr>
              <a:t>- - - - &gt; Rekap Tren Harian (Output, Input, dan Kesiapan)</a:t>
            </a:r>
          </a:p>
        </p:txBody>
      </p:sp>
      <p:sp>
        <p:nvSpPr>
          <p:cNvPr id="29" name="TextBox 28"/>
          <p:cNvSpPr txBox="1"/>
          <p:nvPr/>
        </p:nvSpPr>
        <p:spPr>
          <a:xfrm>
            <a:off x="4343400" y="4059936"/>
            <a:ext cx="1828800" cy="219456"/>
          </a:xfrm>
          <a:prstGeom prst="rect">
            <a:avLst/>
          </a:prstGeom>
          <a:noFill/>
        </p:spPr>
        <p:txBody>
          <a:bodyPr wrap="square" lIns="36576" tIns="36576" rIns="36576" bIns="36576">
            <a:spAutoFit/>
          </a:bodyPr>
          <a:lstStyle/>
          <a:p>
            <a:pPr algn="l"/>
            <a:r>
              <a:rPr sz="750" b="0" i="0">
                <a:solidFill>
                  <a:srgbClr val="1E293B"/>
                </a:solidFill>
              </a:rPr>
              <a:t>- - - - &gt; Pengaturan Target &amp; Kalender (SMV &amp; Hari Libur)</a:t>
            </a:r>
          </a:p>
        </p:txBody>
      </p:sp>
      <p:sp>
        <p:nvSpPr>
          <p:cNvPr id="30" name="TextBox 29"/>
          <p:cNvSpPr txBox="1"/>
          <p:nvPr/>
        </p:nvSpPr>
        <p:spPr>
          <a:xfrm>
            <a:off x="320040" y="4389120"/>
            <a:ext cx="5486400" cy="256032"/>
          </a:xfrm>
          <a:prstGeom prst="rect">
            <a:avLst/>
          </a:prstGeom>
          <a:noFill/>
        </p:spPr>
        <p:txBody>
          <a:bodyPr wrap="square" lIns="36576" tIns="36576" rIns="36576" bIns="36576">
            <a:spAutoFit/>
          </a:bodyPr>
          <a:lstStyle/>
          <a:p>
            <a:pPr algn="l"/>
            <a:r>
              <a:rPr sz="1000" b="1" i="0">
                <a:solidFill>
                  <a:srgbClr val="0E4D82"/>
                </a:solidFill>
              </a:rPr>
              <a:t>Keterangan Integrasi Data :</a:t>
            </a:r>
          </a:p>
        </p:txBody>
      </p:sp>
      <p:sp>
        <p:nvSpPr>
          <p:cNvPr id="31" name="TextBox 30"/>
          <p:cNvSpPr txBox="1"/>
          <p:nvPr/>
        </p:nvSpPr>
        <p:spPr>
          <a:xfrm>
            <a:off x="320040" y="4681728"/>
            <a:ext cx="5577840" cy="438912"/>
          </a:xfrm>
          <a:prstGeom prst="rect">
            <a:avLst/>
          </a:prstGeom>
          <a:noFill/>
        </p:spPr>
        <p:txBody>
          <a:bodyPr wrap="square" lIns="0" tIns="0" rIns="0" bIns="0">
            <a:spAutoFit/>
          </a:bodyPr>
          <a:lstStyle/>
          <a:p>
            <a:r>
              <a:rPr b="1" sz="850">
                <a:solidFill>
                  <a:srgbClr val="1E293B"/>
                </a:solidFill>
              </a:rPr>
              <a:t>• Otomatis Tanpa Input Manual:</a:t>
            </a:r>
            <a:r>
              <a:rPr b="0" sz="819">
                <a:solidFill>
                  <a:srgbClr val="1E293B"/>
                </a:solidFill>
              </a:rPr>
              <a:t> Seluruh data ditarik otomatis dari CIUROX, APS, dan Engage tanpa perlu ada operator yang mengunduh dan menyalin file Excel secara manual.</a:t>
            </a:r>
          </a:p>
        </p:txBody>
      </p:sp>
      <p:sp>
        <p:nvSpPr>
          <p:cNvPr id="32" name="TextBox 31"/>
          <p:cNvSpPr txBox="1"/>
          <p:nvPr/>
        </p:nvSpPr>
        <p:spPr>
          <a:xfrm>
            <a:off x="320040" y="5157216"/>
            <a:ext cx="5577840" cy="438912"/>
          </a:xfrm>
          <a:prstGeom prst="rect">
            <a:avLst/>
          </a:prstGeom>
          <a:noFill/>
        </p:spPr>
        <p:txBody>
          <a:bodyPr wrap="square" lIns="0" tIns="0" rIns="0" bIns="0">
            <a:spAutoFit/>
          </a:bodyPr>
          <a:lstStyle/>
          <a:p>
            <a:r>
              <a:rPr b="1" sz="850">
                <a:solidFill>
                  <a:srgbClr val="1E293B"/>
                </a:solidFill>
              </a:rPr>
              <a:t>• Data Bebas Duplikasi &amp; Akurat:</a:t>
            </a:r>
            <a:r>
              <a:rPr b="0" sz="819">
                <a:solidFill>
                  <a:srgbClr val="1E293B"/>
                </a:solidFill>
              </a:rPr>
              <a:t> Sistem otomatis menyaring dan mencegah pencatatan ganda pada transaksi mutasi barang sehingga angka di dashboard selalu presisi.</a:t>
            </a:r>
          </a:p>
        </p:txBody>
      </p:sp>
      <p:sp>
        <p:nvSpPr>
          <p:cNvPr id="33" name="TextBox 32"/>
          <p:cNvSpPr txBox="1"/>
          <p:nvPr/>
        </p:nvSpPr>
        <p:spPr>
          <a:xfrm>
            <a:off x="320040" y="5632704"/>
            <a:ext cx="5577840" cy="438912"/>
          </a:xfrm>
          <a:prstGeom prst="rect">
            <a:avLst/>
          </a:prstGeom>
          <a:noFill/>
        </p:spPr>
        <p:txBody>
          <a:bodyPr wrap="square" lIns="0" tIns="0" rIns="0" bIns="0">
            <a:spAutoFit/>
          </a:bodyPr>
          <a:lstStyle/>
          <a:p>
            <a:r>
              <a:rPr b="1" sz="850">
                <a:solidFill>
                  <a:srgbClr val="1E293B"/>
                </a:solidFill>
              </a:rPr>
              <a:t>• Sistem Tetap Cepat &amp; Ringan:</a:t>
            </a:r>
            <a:r>
              <a:rPr b="0" sz="819">
                <a:solidFill>
                  <a:srgbClr val="1E293B"/>
                </a:solidFill>
              </a:rPr>
              <a:t> Transaksi lama otomatis dipindahkan ke arsip berkala sehingga pembukaan grafik dan tabel harian tetap instan dalam hitungan detik.</a:t>
            </a:r>
          </a:p>
        </p:txBody>
      </p:sp>
      <p:sp>
        <p:nvSpPr>
          <p:cNvPr id="34" name="TextBox 33"/>
          <p:cNvSpPr txBox="1"/>
          <p:nvPr/>
        </p:nvSpPr>
        <p:spPr>
          <a:xfrm>
            <a:off x="320040" y="6108192"/>
            <a:ext cx="5577840" cy="438912"/>
          </a:xfrm>
          <a:prstGeom prst="rect">
            <a:avLst/>
          </a:prstGeom>
          <a:noFill/>
        </p:spPr>
        <p:txBody>
          <a:bodyPr wrap="square" lIns="0" tIns="0" rIns="0" bIns="0">
            <a:spAutoFit/>
          </a:bodyPr>
          <a:lstStyle/>
          <a:p>
            <a:r>
              <a:rPr b="1" sz="850">
                <a:solidFill>
                  <a:srgbClr val="1E293B"/>
                </a:solidFill>
              </a:rPr>
              <a:t>• Penyimpanan Konfigurasi Terpusat:</a:t>
            </a:r>
            <a:r>
              <a:rPr b="0" sz="819">
                <a:solidFill>
                  <a:srgbClr val="1E293B"/>
                </a:solidFill>
              </a:rPr>
              <a:t> Target produksi (SMV), jam kerja, dan hari libur tersimpan aman dan langsung diterapkan pada perhitungan kapasitas harian.</a:t>
            </a:r>
          </a:p>
        </p:txBody>
      </p:sp>
      <p:sp>
        <p:nvSpPr>
          <p:cNvPr id="35" name="Rounded Rectangle 34"/>
          <p:cNvSpPr/>
          <p:nvPr/>
        </p:nvSpPr>
        <p:spPr>
          <a:xfrm>
            <a:off x="7680960" y="841248"/>
            <a:ext cx="3108960" cy="329184"/>
          </a:xfrm>
          <a:prstGeom prst="roundRect">
            <a:avLst/>
          </a:prstGeom>
          <a:solidFill>
            <a:srgbClr val="0E4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0" y="886968"/>
            <a:ext cx="3108960" cy="256032"/>
          </a:xfrm>
          <a:prstGeom prst="rect">
            <a:avLst/>
          </a:prstGeom>
          <a:noFill/>
        </p:spPr>
        <p:txBody>
          <a:bodyPr wrap="square" lIns="36576" tIns="36576" rIns="36576" bIns="36576">
            <a:spAutoFit/>
          </a:bodyPr>
          <a:lstStyle/>
          <a:p>
            <a:pPr algn="ctr"/>
            <a:r>
              <a:rPr sz="1100" b="1" i="0">
                <a:solidFill>
                  <a:srgbClr val="FFFFFF"/>
                </a:solidFill>
              </a:rPr>
              <a:t>PENGUJIAN KONEKSI DATA REAL-TIME</a:t>
            </a:r>
          </a:p>
        </p:txBody>
      </p:sp>
      <p:sp>
        <p:nvSpPr>
          <p:cNvPr id="37" name="Rounded Rectangle 36"/>
          <p:cNvSpPr/>
          <p:nvPr/>
        </p:nvSpPr>
        <p:spPr>
          <a:xfrm>
            <a:off x="6126480" y="1325880"/>
            <a:ext cx="1737360" cy="320040"/>
          </a:xfrm>
          <a:prstGeom prst="roundRect">
            <a:avLst/>
          </a:prstGeom>
          <a:solidFill>
            <a:srgbClr val="0288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1371600"/>
            <a:ext cx="1737360" cy="228600"/>
          </a:xfrm>
          <a:prstGeom prst="rect">
            <a:avLst/>
          </a:prstGeom>
          <a:noFill/>
        </p:spPr>
        <p:txBody>
          <a:bodyPr wrap="square" lIns="36576" tIns="36576" rIns="36576" bIns="36576">
            <a:spAutoFit/>
          </a:bodyPr>
          <a:lstStyle/>
          <a:p>
            <a:pPr algn="ctr"/>
            <a:r>
              <a:rPr sz="850" b="1" i="0">
                <a:solidFill>
                  <a:srgbClr val="FFFFFF"/>
                </a:solidFill>
              </a:rPr>
              <a:t>BAGIAN YANG DIUJI</a:t>
            </a:r>
          </a:p>
        </p:txBody>
      </p:sp>
      <p:sp>
        <p:nvSpPr>
          <p:cNvPr id="39" name="Rounded Rectangle 38"/>
          <p:cNvSpPr/>
          <p:nvPr/>
        </p:nvSpPr>
        <p:spPr>
          <a:xfrm>
            <a:off x="8046720" y="1325880"/>
            <a:ext cx="201168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0" y="1371600"/>
            <a:ext cx="2011680" cy="228600"/>
          </a:xfrm>
          <a:prstGeom prst="rect">
            <a:avLst/>
          </a:prstGeom>
          <a:noFill/>
        </p:spPr>
        <p:txBody>
          <a:bodyPr wrap="square" lIns="36576" tIns="36576" rIns="36576" bIns="36576">
            <a:spAutoFit/>
          </a:bodyPr>
          <a:lstStyle/>
          <a:p>
            <a:pPr algn="ctr"/>
            <a:r>
              <a:rPr sz="850" b="1" i="0">
                <a:solidFill>
                  <a:srgbClr val="FFFFFF"/>
                </a:solidFill>
              </a:rPr>
              <a:t>CARA PENGUJIAN</a:t>
            </a:r>
          </a:p>
        </p:txBody>
      </p:sp>
      <p:sp>
        <p:nvSpPr>
          <p:cNvPr id="41" name="Rounded Rectangle 40"/>
          <p:cNvSpPr/>
          <p:nvPr/>
        </p:nvSpPr>
        <p:spPr>
          <a:xfrm>
            <a:off x="10241280" y="1325880"/>
            <a:ext cx="1645920" cy="320040"/>
          </a:xfrm>
          <a:prstGeom prst="roundRect">
            <a:avLst/>
          </a:prstGeom>
          <a:solidFill>
            <a:srgbClr val="FB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1280" y="1371600"/>
            <a:ext cx="1645920" cy="228600"/>
          </a:xfrm>
          <a:prstGeom prst="rect">
            <a:avLst/>
          </a:prstGeom>
          <a:noFill/>
        </p:spPr>
        <p:txBody>
          <a:bodyPr wrap="square" lIns="36576" tIns="36576" rIns="36576" bIns="36576">
            <a:spAutoFit/>
          </a:bodyPr>
          <a:lstStyle/>
          <a:p>
            <a:pPr algn="ctr"/>
            <a:r>
              <a:rPr sz="850" b="1" i="0">
                <a:solidFill>
                  <a:srgbClr val="FFFFFF"/>
                </a:solidFill>
              </a:rPr>
              <a:t>HASIL &amp; KESIAPAN</a:t>
            </a:r>
          </a:p>
        </p:txBody>
      </p:sp>
      <p:sp>
        <p:nvSpPr>
          <p:cNvPr id="43" name="Rectangle 42"/>
          <p:cNvSpPr/>
          <p:nvPr/>
        </p:nvSpPr>
        <p:spPr>
          <a:xfrm>
            <a:off x="6126480" y="1783080"/>
            <a:ext cx="1737360" cy="777240"/>
          </a:xfrm>
          <a:prstGeom prst="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72200" y="1892807"/>
            <a:ext cx="1645920" cy="594360"/>
          </a:xfrm>
          <a:prstGeom prst="rect">
            <a:avLst/>
          </a:prstGeom>
          <a:noFill/>
        </p:spPr>
        <p:txBody>
          <a:bodyPr wrap="square" lIns="36576" tIns="36576" rIns="36576" bIns="36576">
            <a:spAutoFit/>
          </a:bodyPr>
          <a:lstStyle/>
          <a:p>
            <a:pPr algn="ctr"/>
            <a:r>
              <a:rPr sz="850" b="1" i="0">
                <a:solidFill>
                  <a:srgbClr val="1E293B"/>
                </a:solidFill>
              </a:rPr>
              <a:t>Kecepatan Akses\nDatabase Pusat</a:t>
            </a:r>
          </a:p>
        </p:txBody>
      </p:sp>
      <p:sp>
        <p:nvSpPr>
          <p:cNvPr id="45" name="TextBox 44"/>
          <p:cNvSpPr txBox="1"/>
          <p:nvPr/>
        </p:nvSpPr>
        <p:spPr>
          <a:xfrm>
            <a:off x="7882127" y="2039112"/>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46" name="Rectangle 45"/>
          <p:cNvSpPr/>
          <p:nvPr/>
        </p:nvSpPr>
        <p:spPr>
          <a:xfrm>
            <a:off x="8046720" y="1783080"/>
            <a:ext cx="2011680" cy="777240"/>
          </a:xfrm>
          <a:prstGeom prst="rect">
            <a:avLst/>
          </a:prstGeom>
          <a:solidFill>
            <a:srgbClr val="DCFCE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92440" y="1874519"/>
            <a:ext cx="1920240" cy="621792"/>
          </a:xfrm>
          <a:prstGeom prst="rect">
            <a:avLst/>
          </a:prstGeom>
          <a:noFill/>
        </p:spPr>
        <p:txBody>
          <a:bodyPr wrap="square" lIns="36576" tIns="36576" rIns="36576" bIns="36576">
            <a:spAutoFit/>
          </a:bodyPr>
          <a:lstStyle/>
          <a:p>
            <a:pPr algn="ctr"/>
            <a:r>
              <a:rPr sz="800" b="0" i="0">
                <a:solidFill>
                  <a:srgbClr val="1E293B"/>
                </a:solidFill>
              </a:rPr>
              <a:t>Uji kecepatan membaca ribuan data transaksi secara serentak.</a:t>
            </a:r>
          </a:p>
        </p:txBody>
      </p:sp>
      <p:sp>
        <p:nvSpPr>
          <p:cNvPr id="48" name="TextBox 47"/>
          <p:cNvSpPr txBox="1"/>
          <p:nvPr/>
        </p:nvSpPr>
        <p:spPr>
          <a:xfrm>
            <a:off x="10076688" y="2039112"/>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49" name="Rectangle 48"/>
          <p:cNvSpPr/>
          <p:nvPr/>
        </p:nvSpPr>
        <p:spPr>
          <a:xfrm>
            <a:off x="10241280" y="1783080"/>
            <a:ext cx="1645920" cy="777240"/>
          </a:xfrm>
          <a:prstGeom prst="rect">
            <a:avLst/>
          </a:prstGeom>
          <a:solidFill>
            <a:srgbClr val="FEF3C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287000" y="1874519"/>
            <a:ext cx="1554480" cy="621792"/>
          </a:xfrm>
          <a:prstGeom prst="rect">
            <a:avLst/>
          </a:prstGeom>
          <a:noFill/>
        </p:spPr>
        <p:txBody>
          <a:bodyPr wrap="square" lIns="36576" tIns="36576" rIns="36576" bIns="36576">
            <a:spAutoFit/>
          </a:bodyPr>
          <a:lstStyle/>
          <a:p>
            <a:pPr algn="ctr"/>
            <a:r>
              <a:rPr sz="800" b="1" i="0">
                <a:solidFill>
                  <a:srgbClr val="1E293B"/>
                </a:solidFill>
              </a:rPr>
              <a:t>Sangat Cepat (&lt; 1 detik),\nData 100% Utuh [LULUS]</a:t>
            </a:r>
          </a:p>
        </p:txBody>
      </p:sp>
      <p:sp>
        <p:nvSpPr>
          <p:cNvPr id="51" name="Rectangle 50"/>
          <p:cNvSpPr/>
          <p:nvPr/>
        </p:nvSpPr>
        <p:spPr>
          <a:xfrm>
            <a:off x="6126480" y="2651760"/>
            <a:ext cx="1737360" cy="777240"/>
          </a:xfrm>
          <a:prstGeom prst="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72200" y="2761488"/>
            <a:ext cx="1645920" cy="594360"/>
          </a:xfrm>
          <a:prstGeom prst="rect">
            <a:avLst/>
          </a:prstGeom>
          <a:noFill/>
        </p:spPr>
        <p:txBody>
          <a:bodyPr wrap="square" lIns="36576" tIns="36576" rIns="36576" bIns="36576">
            <a:spAutoFit/>
          </a:bodyPr>
          <a:lstStyle/>
          <a:p>
            <a:pPr algn="ctr"/>
            <a:r>
              <a:rPr sz="850" b="1" i="0">
                <a:solidFill>
                  <a:srgbClr val="1E293B"/>
                </a:solidFill>
              </a:rPr>
              <a:t>Otomasi Penarikan\nData Berkala (RPA)</a:t>
            </a:r>
          </a:p>
        </p:txBody>
      </p:sp>
      <p:sp>
        <p:nvSpPr>
          <p:cNvPr id="53" name="TextBox 52"/>
          <p:cNvSpPr txBox="1"/>
          <p:nvPr/>
        </p:nvSpPr>
        <p:spPr>
          <a:xfrm>
            <a:off x="7882127" y="2907791"/>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54" name="Rectangle 53"/>
          <p:cNvSpPr/>
          <p:nvPr/>
        </p:nvSpPr>
        <p:spPr>
          <a:xfrm>
            <a:off x="8046720" y="2651760"/>
            <a:ext cx="2011680" cy="777240"/>
          </a:xfrm>
          <a:prstGeom prst="rect">
            <a:avLst/>
          </a:prstGeom>
          <a:solidFill>
            <a:srgbClr val="DCFCE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092440" y="2743200"/>
            <a:ext cx="1920240" cy="621792"/>
          </a:xfrm>
          <a:prstGeom prst="rect">
            <a:avLst/>
          </a:prstGeom>
          <a:noFill/>
        </p:spPr>
        <p:txBody>
          <a:bodyPr wrap="square" lIns="36576" tIns="36576" rIns="36576" bIns="36576">
            <a:spAutoFit/>
          </a:bodyPr>
          <a:lstStyle/>
          <a:p>
            <a:pPr algn="ctr"/>
            <a:r>
              <a:rPr sz="800" b="0" i="0">
                <a:solidFill>
                  <a:srgbClr val="1E293B"/>
                </a:solidFill>
              </a:rPr>
              <a:t>Uji download data otomatis setiap 1,5 jam dan tombol tarik data manual.</a:t>
            </a:r>
          </a:p>
        </p:txBody>
      </p:sp>
      <p:sp>
        <p:nvSpPr>
          <p:cNvPr id="56" name="TextBox 55"/>
          <p:cNvSpPr txBox="1"/>
          <p:nvPr/>
        </p:nvSpPr>
        <p:spPr>
          <a:xfrm>
            <a:off x="10076688" y="2907791"/>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57" name="Rectangle 56"/>
          <p:cNvSpPr/>
          <p:nvPr/>
        </p:nvSpPr>
        <p:spPr>
          <a:xfrm>
            <a:off x="10241280" y="2651760"/>
            <a:ext cx="1645920" cy="777240"/>
          </a:xfrm>
          <a:prstGeom prst="rect">
            <a:avLst/>
          </a:prstGeom>
          <a:solidFill>
            <a:srgbClr val="FEF3C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87000" y="2743200"/>
            <a:ext cx="1554480" cy="621792"/>
          </a:xfrm>
          <a:prstGeom prst="rect">
            <a:avLst/>
          </a:prstGeom>
          <a:noFill/>
        </p:spPr>
        <p:txBody>
          <a:bodyPr wrap="square" lIns="36576" tIns="36576" rIns="36576" bIns="36576">
            <a:spAutoFit/>
          </a:bodyPr>
          <a:lstStyle/>
          <a:p>
            <a:pPr algn="ctr"/>
            <a:r>
              <a:rPr sz="800" b="1" i="0">
                <a:solidFill>
                  <a:srgbClr val="1E293B"/>
                </a:solidFill>
              </a:rPr>
              <a:t>Jadwal berjalan tepat waktu,\nTidak ada bentrok proses [LULUS]</a:t>
            </a:r>
          </a:p>
        </p:txBody>
      </p:sp>
      <p:sp>
        <p:nvSpPr>
          <p:cNvPr id="59" name="Rectangle 58"/>
          <p:cNvSpPr/>
          <p:nvPr/>
        </p:nvSpPr>
        <p:spPr>
          <a:xfrm>
            <a:off x="6126480" y="3520439"/>
            <a:ext cx="1737360" cy="777240"/>
          </a:xfrm>
          <a:prstGeom prst="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72200" y="3630168"/>
            <a:ext cx="1645920" cy="594360"/>
          </a:xfrm>
          <a:prstGeom prst="rect">
            <a:avLst/>
          </a:prstGeom>
          <a:noFill/>
        </p:spPr>
        <p:txBody>
          <a:bodyPr wrap="square" lIns="36576" tIns="36576" rIns="36576" bIns="36576">
            <a:spAutoFit/>
          </a:bodyPr>
          <a:lstStyle/>
          <a:p>
            <a:pPr algn="ctr"/>
            <a:r>
              <a:rPr sz="850" b="1" i="0">
                <a:solidFill>
                  <a:srgbClr val="1E293B"/>
                </a:solidFill>
              </a:rPr>
              <a:t>Pembaruan Layar TV\nSecara Real-Time</a:t>
            </a:r>
          </a:p>
        </p:txBody>
      </p:sp>
      <p:sp>
        <p:nvSpPr>
          <p:cNvPr id="61" name="TextBox 60"/>
          <p:cNvSpPr txBox="1"/>
          <p:nvPr/>
        </p:nvSpPr>
        <p:spPr>
          <a:xfrm>
            <a:off x="7882127" y="3776472"/>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62" name="Rectangle 61"/>
          <p:cNvSpPr/>
          <p:nvPr/>
        </p:nvSpPr>
        <p:spPr>
          <a:xfrm>
            <a:off x="8046720" y="3520439"/>
            <a:ext cx="2011680" cy="777240"/>
          </a:xfrm>
          <a:prstGeom prst="rect">
            <a:avLst/>
          </a:prstGeom>
          <a:solidFill>
            <a:srgbClr val="DCFCE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92440" y="3611879"/>
            <a:ext cx="1920240" cy="621792"/>
          </a:xfrm>
          <a:prstGeom prst="rect">
            <a:avLst/>
          </a:prstGeom>
          <a:noFill/>
        </p:spPr>
        <p:txBody>
          <a:bodyPr wrap="square" lIns="36576" tIns="36576" rIns="36576" bIns="36576">
            <a:spAutoFit/>
          </a:bodyPr>
          <a:lstStyle/>
          <a:p>
            <a:pPr algn="ctr"/>
            <a:r>
              <a:rPr sz="800" b="0" i="0">
                <a:solidFill>
                  <a:srgbClr val="1E293B"/>
                </a:solidFill>
              </a:rPr>
              <a:t>Uji pembaruan data otomatis (:00 &amp; :30) dan pemantauan terus-menerus di monitor TV.</a:t>
            </a:r>
          </a:p>
        </p:txBody>
      </p:sp>
      <p:sp>
        <p:nvSpPr>
          <p:cNvPr id="64" name="TextBox 63"/>
          <p:cNvSpPr txBox="1"/>
          <p:nvPr/>
        </p:nvSpPr>
        <p:spPr>
          <a:xfrm>
            <a:off x="10076688" y="3776472"/>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65" name="Rectangle 64"/>
          <p:cNvSpPr/>
          <p:nvPr/>
        </p:nvSpPr>
        <p:spPr>
          <a:xfrm>
            <a:off x="10241280" y="3520439"/>
            <a:ext cx="1645920" cy="777240"/>
          </a:xfrm>
          <a:prstGeom prst="rect">
            <a:avLst/>
          </a:prstGeom>
          <a:solidFill>
            <a:srgbClr val="FEF3C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287000" y="3611879"/>
            <a:ext cx="1554480" cy="621792"/>
          </a:xfrm>
          <a:prstGeom prst="rect">
            <a:avLst/>
          </a:prstGeom>
          <a:noFill/>
        </p:spPr>
        <p:txBody>
          <a:bodyPr wrap="square" lIns="36576" tIns="36576" rIns="36576" bIns="36576">
            <a:spAutoFit/>
          </a:bodyPr>
          <a:lstStyle/>
          <a:p>
            <a:pPr algn="ctr"/>
            <a:r>
              <a:rPr sz="800" b="1" i="0">
                <a:solidFill>
                  <a:srgbClr val="1E293B"/>
                </a:solidFill>
              </a:rPr>
              <a:t>Layar tampil seketika (0 jeda),\nAngka otomatis terbarui [LULUS]</a:t>
            </a:r>
          </a:p>
        </p:txBody>
      </p:sp>
      <p:sp>
        <p:nvSpPr>
          <p:cNvPr id="67" name="Rectangle 66"/>
          <p:cNvSpPr/>
          <p:nvPr/>
        </p:nvSpPr>
        <p:spPr>
          <a:xfrm>
            <a:off x="6126480" y="4389120"/>
            <a:ext cx="1737360" cy="777240"/>
          </a:xfrm>
          <a:prstGeom prst="rect">
            <a:avLst/>
          </a:prstGeom>
          <a:solidFill>
            <a:srgbClr val="E0F2FE"/>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72200" y="4498848"/>
            <a:ext cx="1645920" cy="594360"/>
          </a:xfrm>
          <a:prstGeom prst="rect">
            <a:avLst/>
          </a:prstGeom>
          <a:noFill/>
        </p:spPr>
        <p:txBody>
          <a:bodyPr wrap="square" lIns="36576" tIns="36576" rIns="36576" bIns="36576">
            <a:spAutoFit/>
          </a:bodyPr>
          <a:lstStyle/>
          <a:p>
            <a:pPr algn="ctr"/>
            <a:r>
              <a:rPr sz="850" b="1" i="0">
                <a:solidFill>
                  <a:srgbClr val="1E293B"/>
                </a:solidFill>
              </a:rPr>
              <a:t>Ketepatan Status\nOrder Siap Produksi</a:t>
            </a:r>
          </a:p>
        </p:txBody>
      </p:sp>
      <p:sp>
        <p:nvSpPr>
          <p:cNvPr id="69" name="TextBox 68"/>
          <p:cNvSpPr txBox="1"/>
          <p:nvPr/>
        </p:nvSpPr>
        <p:spPr>
          <a:xfrm>
            <a:off x="7882127" y="4645152"/>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70" name="Rectangle 69"/>
          <p:cNvSpPr/>
          <p:nvPr/>
        </p:nvSpPr>
        <p:spPr>
          <a:xfrm>
            <a:off x="8046720" y="4389120"/>
            <a:ext cx="2011680" cy="777240"/>
          </a:xfrm>
          <a:prstGeom prst="rect">
            <a:avLst/>
          </a:prstGeom>
          <a:solidFill>
            <a:srgbClr val="DCFCE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092440" y="4480559"/>
            <a:ext cx="1920240" cy="621792"/>
          </a:xfrm>
          <a:prstGeom prst="rect">
            <a:avLst/>
          </a:prstGeom>
          <a:noFill/>
        </p:spPr>
        <p:txBody>
          <a:bodyPr wrap="square" lIns="36576" tIns="36576" rIns="36576" bIns="36576">
            <a:spAutoFit/>
          </a:bodyPr>
          <a:lstStyle/>
          <a:p>
            <a:pPr algn="ctr"/>
            <a:r>
              <a:rPr sz="800" b="0" i="0">
                <a:solidFill>
                  <a:srgbClr val="1E293B"/>
                </a:solidFill>
              </a:rPr>
              <a:t>Verifikasi pencocokan status kelengkapan aksesoris terhadap order rencana produksi.</a:t>
            </a:r>
          </a:p>
        </p:txBody>
      </p:sp>
      <p:sp>
        <p:nvSpPr>
          <p:cNvPr id="72" name="TextBox 71"/>
          <p:cNvSpPr txBox="1"/>
          <p:nvPr/>
        </p:nvSpPr>
        <p:spPr>
          <a:xfrm>
            <a:off x="10076688" y="4645152"/>
            <a:ext cx="146304" cy="274320"/>
          </a:xfrm>
          <a:prstGeom prst="rect">
            <a:avLst/>
          </a:prstGeom>
          <a:noFill/>
        </p:spPr>
        <p:txBody>
          <a:bodyPr wrap="square" lIns="36576" tIns="36576" rIns="36576" bIns="36576">
            <a:spAutoFit/>
          </a:bodyPr>
          <a:lstStyle/>
          <a:p>
            <a:pPr algn="ctr"/>
            <a:r>
              <a:rPr sz="1200" b="1" i="0">
                <a:solidFill>
                  <a:srgbClr val="0E4D82"/>
                </a:solidFill>
              </a:rPr>
              <a:t>→</a:t>
            </a:r>
          </a:p>
        </p:txBody>
      </p:sp>
      <p:sp>
        <p:nvSpPr>
          <p:cNvPr id="73" name="Rectangle 72"/>
          <p:cNvSpPr/>
          <p:nvPr/>
        </p:nvSpPr>
        <p:spPr>
          <a:xfrm>
            <a:off x="10241280" y="4389120"/>
            <a:ext cx="1645920" cy="777240"/>
          </a:xfrm>
          <a:prstGeom prst="rect">
            <a:avLst/>
          </a:prstGeom>
          <a:solidFill>
            <a:srgbClr val="FEF3C7"/>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287000" y="4480559"/>
            <a:ext cx="1554480" cy="621792"/>
          </a:xfrm>
          <a:prstGeom prst="rect">
            <a:avLst/>
          </a:prstGeom>
          <a:noFill/>
        </p:spPr>
        <p:txBody>
          <a:bodyPr wrap="square" lIns="36576" tIns="36576" rIns="36576" bIns="36576">
            <a:spAutoFit/>
          </a:bodyPr>
          <a:lstStyle/>
          <a:p>
            <a:pPr algn="ctr"/>
            <a:r>
              <a:rPr sz="800" b="1" i="0">
                <a:solidFill>
                  <a:srgbClr val="1E293B"/>
                </a:solidFill>
              </a:rPr>
              <a:t>Pencocokan 100% akurat,\nOrder siap tersaring tepat [LULUS]</a:t>
            </a:r>
          </a:p>
        </p:txBody>
      </p:sp>
      <p:sp>
        <p:nvSpPr>
          <p:cNvPr id="75" name="Rounded Rectangle 74"/>
          <p:cNvSpPr/>
          <p:nvPr/>
        </p:nvSpPr>
        <p:spPr>
          <a:xfrm>
            <a:off x="6126480" y="5349240"/>
            <a:ext cx="5760720" cy="1143000"/>
          </a:xfrm>
          <a:prstGeom prst="roundRect">
            <a:avLst/>
          </a:prstGeom>
          <a:solidFill>
            <a:srgbClr val="F8FAFC"/>
          </a:solidFill>
          <a:ln w="12700">
            <a:solidFill>
              <a:srgbClr val="0E4D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640" y="5440680"/>
            <a:ext cx="5486400" cy="228600"/>
          </a:xfrm>
          <a:prstGeom prst="rect">
            <a:avLst/>
          </a:prstGeom>
          <a:noFill/>
        </p:spPr>
        <p:txBody>
          <a:bodyPr wrap="square" lIns="36576" tIns="36576" rIns="36576" bIns="36576">
            <a:spAutoFit/>
          </a:bodyPr>
          <a:lstStyle/>
          <a:p>
            <a:pPr algn="l"/>
            <a:r>
              <a:rPr sz="900" b="1" i="0">
                <a:solidFill>
                  <a:srgbClr val="0E4D82"/>
                </a:solidFill>
              </a:rPr>
              <a:t>Kesimpulan Hasil Pengujian Sistem Real-Time :</a:t>
            </a:r>
          </a:p>
        </p:txBody>
      </p:sp>
      <p:sp>
        <p:nvSpPr>
          <p:cNvPr id="77" name="TextBox 76"/>
          <p:cNvSpPr txBox="1"/>
          <p:nvPr/>
        </p:nvSpPr>
        <p:spPr>
          <a:xfrm>
            <a:off x="6263640" y="5715000"/>
            <a:ext cx="5486400" cy="685800"/>
          </a:xfrm>
          <a:prstGeom prst="rect">
            <a:avLst/>
          </a:prstGeom>
          <a:noFill/>
        </p:spPr>
        <p:txBody>
          <a:bodyPr wrap="square" lIns="36576" tIns="36576" rIns="36576" bIns="36576">
            <a:spAutoFit/>
          </a:bodyPr>
          <a:lstStyle/>
          <a:p>
            <a:pPr algn="l"/>
            <a:r>
              <a:rPr sz="850" b="0" i="0">
                <a:solidFill>
                  <a:srgbClr val="1E293B"/>
                </a:solidFill>
              </a:rPr>
              <a:t>Seluruh jalur aliran data dari sistem sumber hingga ke layar TV monitor telah teruji stabil, tanpa ada keterlambatan data, bebas hambatan teknis, dan siap digunakan 24 jam penuh di area pabrik.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008815" cy="667512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 y="182880"/>
            <a:ext cx="10241280" cy="475488"/>
          </a:xfrm>
          <a:prstGeom prst="rect">
            <a:avLst/>
          </a:prstGeom>
          <a:solidFill>
            <a:srgbClr val="105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46888"/>
            <a:ext cx="9966960" cy="347472"/>
          </a:xfrm>
          <a:prstGeom prst="rect">
            <a:avLst/>
          </a:prstGeom>
          <a:noFill/>
        </p:spPr>
        <p:txBody>
          <a:bodyPr wrap="square" lIns="36576" tIns="36576" rIns="36576" bIns="36576">
            <a:spAutoFit/>
          </a:bodyPr>
          <a:lstStyle/>
          <a:p>
            <a:pPr algn="l"/>
            <a:r>
              <a:rPr sz="1350" b="1" i="0">
                <a:solidFill>
                  <a:srgbClr val="FFFFFF"/>
                </a:solidFill>
              </a:rPr>
              <a:t>IRL 5 (BAGIAN 2) : DEVELOPMENT DASHBOARD &amp; FITUR SIAP OPERASIONAL</a:t>
            </a:r>
          </a:p>
        </p:txBody>
      </p:sp>
      <p:sp>
        <p:nvSpPr>
          <p:cNvPr id="5" name="Rounded Rectangle 4"/>
          <p:cNvSpPr/>
          <p:nvPr/>
        </p:nvSpPr>
        <p:spPr>
          <a:xfrm>
            <a:off x="1645920" y="841248"/>
            <a:ext cx="2743200" cy="329184"/>
          </a:xfrm>
          <a:prstGeom prst="roundRect">
            <a:avLst/>
          </a:prstGeom>
          <a:solidFill>
            <a:srgbClr val="0E4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886968"/>
            <a:ext cx="2743200" cy="256032"/>
          </a:xfrm>
          <a:prstGeom prst="rect">
            <a:avLst/>
          </a:prstGeom>
          <a:noFill/>
        </p:spPr>
        <p:txBody>
          <a:bodyPr wrap="square" lIns="36576" tIns="36576" rIns="36576" bIns="36576">
            <a:spAutoFit/>
          </a:bodyPr>
          <a:lstStyle/>
          <a:p>
            <a:pPr algn="ctr"/>
            <a:r>
              <a:rPr sz="1100" b="1" i="0">
                <a:solidFill>
                  <a:srgbClr val="FFFFFF"/>
                </a:solidFill>
              </a:rPr>
              <a:t>DASHBOARD PUBLIK UNTUK PABRIK</a:t>
            </a:r>
          </a:p>
        </p:txBody>
      </p:sp>
      <p:sp>
        <p:nvSpPr>
          <p:cNvPr id="7" name="Rounded Rectangle 6"/>
          <p:cNvSpPr/>
          <p:nvPr/>
        </p:nvSpPr>
        <p:spPr>
          <a:xfrm>
            <a:off x="320040" y="1325880"/>
            <a:ext cx="548640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99032"/>
            <a:ext cx="5303520" cy="228600"/>
          </a:xfrm>
          <a:prstGeom prst="rect">
            <a:avLst/>
          </a:prstGeom>
          <a:noFill/>
        </p:spPr>
        <p:txBody>
          <a:bodyPr wrap="square" lIns="36576" tIns="36576" rIns="36576" bIns="36576">
            <a:spAutoFit/>
          </a:bodyPr>
          <a:lstStyle/>
          <a:p>
            <a:pPr algn="l"/>
            <a:r>
              <a:rPr sz="950" b="1" i="0">
                <a:solidFill>
                  <a:srgbClr val="0E4D82"/>
                </a:solidFill>
              </a:rPr>
              <a:t>Tampilan Khusus Layar Lebar (TV Monitor &amp; PC):</a:t>
            </a:r>
          </a:p>
        </p:txBody>
      </p:sp>
      <p:sp>
        <p:nvSpPr>
          <p:cNvPr id="9" name="TextBox 8"/>
          <p:cNvSpPr txBox="1"/>
          <p:nvPr/>
        </p:nvSpPr>
        <p:spPr>
          <a:xfrm>
            <a:off x="411480" y="1645919"/>
            <a:ext cx="5303520" cy="566928"/>
          </a:xfrm>
          <a:prstGeom prst="rect">
            <a:avLst/>
          </a:prstGeom>
          <a:noFill/>
        </p:spPr>
        <p:txBody>
          <a:bodyPr wrap="square" lIns="36576" tIns="36576" rIns="36576" bIns="36576">
            <a:spAutoFit/>
          </a:bodyPr>
          <a:lstStyle/>
          <a:p>
            <a:pPr algn="l"/>
            <a:r>
              <a:rPr sz="830" b="0" i="0">
                <a:solidFill>
                  <a:srgbClr val="1E293B"/>
                </a:solidFill>
              </a:rPr>
              <a:t>Dirancang agar angka, grafik, dan tabel prioritas terlihat jelas dari kejauhan di lantai produksi pabrik maupun saat diakses dari komputer meja kerja.</a:t>
            </a:r>
          </a:p>
        </p:txBody>
      </p:sp>
      <p:sp>
        <p:nvSpPr>
          <p:cNvPr id="10" name="Rounded Rectangle 9"/>
          <p:cNvSpPr/>
          <p:nvPr/>
        </p:nvSpPr>
        <p:spPr>
          <a:xfrm>
            <a:off x="320040" y="2331720"/>
            <a:ext cx="548640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404872"/>
            <a:ext cx="5303520" cy="228600"/>
          </a:xfrm>
          <a:prstGeom prst="rect">
            <a:avLst/>
          </a:prstGeom>
          <a:noFill/>
        </p:spPr>
        <p:txBody>
          <a:bodyPr wrap="square" lIns="36576" tIns="36576" rIns="36576" bIns="36576">
            <a:spAutoFit/>
          </a:bodyPr>
          <a:lstStyle/>
          <a:p>
            <a:pPr algn="l"/>
            <a:r>
              <a:rPr sz="950" b="1" i="0">
                <a:solidFill>
                  <a:srgbClr val="0E4D82"/>
                </a:solidFill>
              </a:rPr>
              <a:t>Layar Langsung Tampil Seketika (Tanpa Loading):</a:t>
            </a:r>
          </a:p>
        </p:txBody>
      </p:sp>
      <p:sp>
        <p:nvSpPr>
          <p:cNvPr id="12" name="TextBox 11"/>
          <p:cNvSpPr txBox="1"/>
          <p:nvPr/>
        </p:nvSpPr>
        <p:spPr>
          <a:xfrm>
            <a:off x="411480" y="2651760"/>
            <a:ext cx="5303520" cy="566928"/>
          </a:xfrm>
          <a:prstGeom prst="rect">
            <a:avLst/>
          </a:prstGeom>
          <a:noFill/>
        </p:spPr>
        <p:txBody>
          <a:bodyPr wrap="square" lIns="36576" tIns="36576" rIns="36576" bIns="36576">
            <a:spAutoFit/>
          </a:bodyPr>
          <a:lstStyle/>
          <a:p>
            <a:pPr algn="l"/>
            <a:r>
              <a:rPr sz="830" b="0" i="0">
                <a:solidFill>
                  <a:srgbClr val="1E293B"/>
                </a:solidFill>
              </a:rPr>
              <a:t>Informasi dashboard langsung muncul utuh saat halaman dibuka, tanpa ada jeda layar putih kosong atau lingkaran loading yang mengganggu pemantauan.</a:t>
            </a:r>
          </a:p>
        </p:txBody>
      </p:sp>
      <p:sp>
        <p:nvSpPr>
          <p:cNvPr id="13" name="Rounded Rectangle 12"/>
          <p:cNvSpPr/>
          <p:nvPr/>
        </p:nvSpPr>
        <p:spPr>
          <a:xfrm>
            <a:off x="320040" y="3337560"/>
            <a:ext cx="548640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3410712"/>
            <a:ext cx="5303520" cy="228600"/>
          </a:xfrm>
          <a:prstGeom prst="rect">
            <a:avLst/>
          </a:prstGeom>
          <a:noFill/>
        </p:spPr>
        <p:txBody>
          <a:bodyPr wrap="square" lIns="36576" tIns="36576" rIns="36576" bIns="36576">
            <a:spAutoFit/>
          </a:bodyPr>
          <a:lstStyle/>
          <a:p>
            <a:pPr algn="l"/>
            <a:r>
              <a:rPr sz="950" b="1" i="0">
                <a:solidFill>
                  <a:srgbClr val="0E4D82"/>
                </a:solidFill>
              </a:rPr>
              <a:t>Pilihan Rentang Target Fleksibel (1, 2, 4, 6 Delivery):</a:t>
            </a:r>
          </a:p>
        </p:txBody>
      </p:sp>
      <p:sp>
        <p:nvSpPr>
          <p:cNvPr id="15" name="TextBox 14"/>
          <p:cNvSpPr txBox="1"/>
          <p:nvPr/>
        </p:nvSpPr>
        <p:spPr>
          <a:xfrm>
            <a:off x="411480" y="3657600"/>
            <a:ext cx="5303520" cy="566928"/>
          </a:xfrm>
          <a:prstGeom prst="rect">
            <a:avLst/>
          </a:prstGeom>
          <a:noFill/>
        </p:spPr>
        <p:txBody>
          <a:bodyPr wrap="square" lIns="36576" tIns="36576" rIns="36576" bIns="36576">
            <a:spAutoFit/>
          </a:bodyPr>
          <a:lstStyle/>
          <a:p>
            <a:pPr algn="l"/>
            <a:r>
              <a:rPr sz="830" b="0" i="0">
                <a:solidFill>
                  <a:srgbClr val="1E293B"/>
                </a:solidFill>
              </a:rPr>
              <a:t>Memudahkan pengguna memilih fokus periode pengiriman yang ingin dianalisis, baik jangka pendek (1–2 delivery) maupun jangka menengah (4–6 delivery).</a:t>
            </a:r>
          </a:p>
        </p:txBody>
      </p:sp>
      <p:sp>
        <p:nvSpPr>
          <p:cNvPr id="16" name="Rounded Rectangle 15"/>
          <p:cNvSpPr/>
          <p:nvPr/>
        </p:nvSpPr>
        <p:spPr>
          <a:xfrm>
            <a:off x="320040" y="4343400"/>
            <a:ext cx="548640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416552"/>
            <a:ext cx="5303520" cy="228600"/>
          </a:xfrm>
          <a:prstGeom prst="rect">
            <a:avLst/>
          </a:prstGeom>
          <a:noFill/>
        </p:spPr>
        <p:txBody>
          <a:bodyPr wrap="square" lIns="36576" tIns="36576" rIns="36576" bIns="36576">
            <a:spAutoFit/>
          </a:bodyPr>
          <a:lstStyle/>
          <a:p>
            <a:pPr algn="l"/>
            <a:r>
              <a:rPr sz="950" b="1" i="0">
                <a:solidFill>
                  <a:srgbClr val="0E4D82"/>
                </a:solidFill>
              </a:rPr>
              <a:t>Unduh Laporan Excel Sekali Klik:</a:t>
            </a:r>
          </a:p>
        </p:txBody>
      </p:sp>
      <p:sp>
        <p:nvSpPr>
          <p:cNvPr id="18" name="TextBox 17"/>
          <p:cNvSpPr txBox="1"/>
          <p:nvPr/>
        </p:nvSpPr>
        <p:spPr>
          <a:xfrm>
            <a:off x="411480" y="4663440"/>
            <a:ext cx="5303520" cy="566928"/>
          </a:xfrm>
          <a:prstGeom prst="rect">
            <a:avLst/>
          </a:prstGeom>
          <a:noFill/>
        </p:spPr>
        <p:txBody>
          <a:bodyPr wrap="square" lIns="36576" tIns="36576" rIns="36576" bIns="36576">
            <a:spAutoFit/>
          </a:bodyPr>
          <a:lstStyle/>
          <a:p>
            <a:pPr algn="l"/>
            <a:r>
              <a:rPr sz="830" b="0" i="0">
                <a:solidFill>
                  <a:srgbClr val="1E293B"/>
                </a:solidFill>
              </a:rPr>
              <a:t>Menyediakan tombol download yang langsung mengekspor daftar order siap muat (Material To Load) ke file Excel rapi sesuai periode yang sedang dipilih.</a:t>
            </a:r>
          </a:p>
        </p:txBody>
      </p:sp>
      <p:sp>
        <p:nvSpPr>
          <p:cNvPr id="19" name="Rounded Rectangle 18"/>
          <p:cNvSpPr/>
          <p:nvPr/>
        </p:nvSpPr>
        <p:spPr>
          <a:xfrm>
            <a:off x="320040" y="5349240"/>
            <a:ext cx="548640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5422392"/>
            <a:ext cx="5303520" cy="228600"/>
          </a:xfrm>
          <a:prstGeom prst="rect">
            <a:avLst/>
          </a:prstGeom>
          <a:noFill/>
        </p:spPr>
        <p:txBody>
          <a:bodyPr wrap="square" lIns="36576" tIns="36576" rIns="36576" bIns="36576">
            <a:spAutoFit/>
          </a:bodyPr>
          <a:lstStyle/>
          <a:p>
            <a:pPr algn="l"/>
            <a:r>
              <a:rPr sz="950" b="1" i="0">
                <a:solidFill>
                  <a:srgbClr val="0E4D82"/>
                </a:solidFill>
              </a:rPr>
              <a:t>Pembaruan Otomatis Sinkron Jam Pabrik:</a:t>
            </a:r>
          </a:p>
        </p:txBody>
      </p:sp>
      <p:sp>
        <p:nvSpPr>
          <p:cNvPr id="21" name="TextBox 20"/>
          <p:cNvSpPr txBox="1"/>
          <p:nvPr/>
        </p:nvSpPr>
        <p:spPr>
          <a:xfrm>
            <a:off x="411480" y="5669279"/>
            <a:ext cx="5303520" cy="566928"/>
          </a:xfrm>
          <a:prstGeom prst="rect">
            <a:avLst/>
          </a:prstGeom>
          <a:noFill/>
        </p:spPr>
        <p:txBody>
          <a:bodyPr wrap="square" lIns="36576" tIns="36576" rIns="36576" bIns="36576">
            <a:spAutoFit/>
          </a:bodyPr>
          <a:lstStyle/>
          <a:p>
            <a:pPr algn="l"/>
            <a:r>
              <a:rPr sz="830" b="0" i="0">
                <a:solidFill>
                  <a:srgbClr val="1E293B"/>
                </a:solidFill>
              </a:rPr>
              <a:t>Angka di dashboard otomatis memperbarui diri tepat pada menit :00 dan :30 setiap jam, lengkap dengan lampu indikator hijau yang berkedip menandakan data sedang aktif.</a:t>
            </a:r>
          </a:p>
        </p:txBody>
      </p:sp>
      <p:sp>
        <p:nvSpPr>
          <p:cNvPr id="22" name="Rounded Rectangle 21"/>
          <p:cNvSpPr/>
          <p:nvPr/>
        </p:nvSpPr>
        <p:spPr>
          <a:xfrm>
            <a:off x="7680960" y="841248"/>
            <a:ext cx="2926080" cy="329184"/>
          </a:xfrm>
          <a:prstGeom prst="roundRect">
            <a:avLst/>
          </a:prstGeom>
          <a:solidFill>
            <a:srgbClr val="0E4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886968"/>
            <a:ext cx="2926080" cy="256032"/>
          </a:xfrm>
          <a:prstGeom prst="rect">
            <a:avLst/>
          </a:prstGeom>
          <a:noFill/>
        </p:spPr>
        <p:txBody>
          <a:bodyPr wrap="square" lIns="36576" tIns="36576" rIns="36576" bIns="36576">
            <a:spAutoFit/>
          </a:bodyPr>
          <a:lstStyle/>
          <a:p>
            <a:pPr algn="ctr"/>
            <a:r>
              <a:rPr sz="1100" b="1" i="0">
                <a:solidFill>
                  <a:srgbClr val="FFFFFF"/>
                </a:solidFill>
              </a:rPr>
              <a:t>PANEL PENGATURAN &amp; ANALISIS</a:t>
            </a:r>
          </a:p>
        </p:txBody>
      </p:sp>
      <p:sp>
        <p:nvSpPr>
          <p:cNvPr id="24" name="Rounded Rectangle 23"/>
          <p:cNvSpPr/>
          <p:nvPr/>
        </p:nvSpPr>
        <p:spPr>
          <a:xfrm>
            <a:off x="6217920" y="1325880"/>
            <a:ext cx="562356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1399032"/>
            <a:ext cx="5440680" cy="228600"/>
          </a:xfrm>
          <a:prstGeom prst="rect">
            <a:avLst/>
          </a:prstGeom>
          <a:noFill/>
        </p:spPr>
        <p:txBody>
          <a:bodyPr wrap="square" lIns="36576" tIns="36576" rIns="36576" bIns="36576">
            <a:spAutoFit/>
          </a:bodyPr>
          <a:lstStyle/>
          <a:p>
            <a:pPr algn="l"/>
            <a:r>
              <a:rPr sz="950" b="1" i="0">
                <a:solidFill>
                  <a:srgbClr val="0E4D82"/>
                </a:solidFill>
              </a:rPr>
              <a:t>Panel Kontrol Terpusat Khusus Admin (Aman):</a:t>
            </a:r>
          </a:p>
        </p:txBody>
      </p:sp>
      <p:sp>
        <p:nvSpPr>
          <p:cNvPr id="26" name="TextBox 25"/>
          <p:cNvSpPr txBox="1"/>
          <p:nvPr/>
        </p:nvSpPr>
        <p:spPr>
          <a:xfrm>
            <a:off x="6309360" y="1645919"/>
            <a:ext cx="5440680" cy="566928"/>
          </a:xfrm>
          <a:prstGeom prst="rect">
            <a:avLst/>
          </a:prstGeom>
          <a:noFill/>
        </p:spPr>
        <p:txBody>
          <a:bodyPr wrap="square" lIns="36576" tIns="36576" rIns="36576" bIns="36576">
            <a:spAutoFit/>
          </a:bodyPr>
          <a:lstStyle/>
          <a:p>
            <a:pPr algn="l"/>
            <a:r>
              <a:rPr sz="830" b="0" i="0">
                <a:solidFill>
                  <a:srgbClr val="1E293B"/>
                </a:solidFill>
              </a:rPr>
              <a:t>Halaman manajemen yang terlindung kata sandi untuk supervisor dan manajemen dalam mengendalikan seluruh parameter produksi tanpa mengganggu tampilan publik.</a:t>
            </a:r>
          </a:p>
        </p:txBody>
      </p:sp>
      <p:sp>
        <p:nvSpPr>
          <p:cNvPr id="27" name="Rounded Rectangle 26"/>
          <p:cNvSpPr/>
          <p:nvPr/>
        </p:nvSpPr>
        <p:spPr>
          <a:xfrm>
            <a:off x="6217920" y="2331720"/>
            <a:ext cx="562356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2404872"/>
            <a:ext cx="5440680" cy="228600"/>
          </a:xfrm>
          <a:prstGeom prst="rect">
            <a:avLst/>
          </a:prstGeom>
          <a:noFill/>
        </p:spPr>
        <p:txBody>
          <a:bodyPr wrap="square" lIns="36576" tIns="36576" rIns="36576" bIns="36576">
            <a:spAutoFit/>
          </a:bodyPr>
          <a:lstStyle/>
          <a:p>
            <a:pPr algn="l"/>
            <a:r>
              <a:rPr sz="950" b="1" i="0">
                <a:solidFill>
                  <a:srgbClr val="0E4D82"/>
                </a:solidFill>
              </a:rPr>
              <a:t>Pengaturan Nilai Target Kerja (SMV per Style):</a:t>
            </a:r>
          </a:p>
        </p:txBody>
      </p:sp>
      <p:sp>
        <p:nvSpPr>
          <p:cNvPr id="29" name="TextBox 28"/>
          <p:cNvSpPr txBox="1"/>
          <p:nvPr/>
        </p:nvSpPr>
        <p:spPr>
          <a:xfrm>
            <a:off x="6309360" y="2651760"/>
            <a:ext cx="5440680" cy="566928"/>
          </a:xfrm>
          <a:prstGeom prst="rect">
            <a:avLst/>
          </a:prstGeom>
          <a:noFill/>
        </p:spPr>
        <p:txBody>
          <a:bodyPr wrap="square" lIns="36576" tIns="36576" rIns="36576" bIns="36576">
            <a:spAutoFit/>
          </a:bodyPr>
          <a:lstStyle/>
          <a:p>
            <a:pPr algn="l"/>
            <a:r>
              <a:rPr sz="830" b="0" i="0">
                <a:solidFill>
                  <a:srgbClr val="1E293B"/>
                </a:solidFill>
              </a:rPr>
              <a:t>Menu tabel lengkap dengan fitur pencarian untuk memasukkan target menit pengerjaan per model baju dan memilih style mana saja yang ingin dimunculkan di layar utama.</a:t>
            </a:r>
          </a:p>
        </p:txBody>
      </p:sp>
      <p:sp>
        <p:nvSpPr>
          <p:cNvPr id="30" name="Rounded Rectangle 29"/>
          <p:cNvSpPr/>
          <p:nvPr/>
        </p:nvSpPr>
        <p:spPr>
          <a:xfrm>
            <a:off x="6217920" y="3337560"/>
            <a:ext cx="562356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3410712"/>
            <a:ext cx="5440680" cy="228600"/>
          </a:xfrm>
          <a:prstGeom prst="rect">
            <a:avLst/>
          </a:prstGeom>
          <a:noFill/>
        </p:spPr>
        <p:txBody>
          <a:bodyPr wrap="square" lIns="36576" tIns="36576" rIns="36576" bIns="36576">
            <a:spAutoFit/>
          </a:bodyPr>
          <a:lstStyle/>
          <a:p>
            <a:pPr algn="l"/>
            <a:r>
              <a:rPr sz="950" b="1" i="0">
                <a:solidFill>
                  <a:srgbClr val="0E4D82"/>
                </a:solidFill>
              </a:rPr>
              <a:t>Pilihan Input Direct Aktual Fleksibel:</a:t>
            </a:r>
          </a:p>
        </p:txBody>
      </p:sp>
      <p:sp>
        <p:nvSpPr>
          <p:cNvPr id="32" name="TextBox 31"/>
          <p:cNvSpPr txBox="1"/>
          <p:nvPr/>
        </p:nvSpPr>
        <p:spPr>
          <a:xfrm>
            <a:off x="6309360" y="3657600"/>
            <a:ext cx="5440680" cy="566928"/>
          </a:xfrm>
          <a:prstGeom prst="rect">
            <a:avLst/>
          </a:prstGeom>
          <a:noFill/>
        </p:spPr>
        <p:txBody>
          <a:bodyPr wrap="square" lIns="36576" tIns="36576" rIns="36576" bIns="36576">
            <a:spAutoFit/>
          </a:bodyPr>
          <a:lstStyle/>
          <a:p>
            <a:pPr algn="l"/>
            <a:r>
              <a:rPr sz="830" b="0" i="0">
                <a:solidFill>
                  <a:srgbClr val="1E293B"/>
                </a:solidFill>
              </a:rPr>
              <a:t>Fleksibilitas bagi supervisor untuk memasukkan angka direct aktual secara manual atau memilih menggunakan rumus hitungan otomatis sistem.</a:t>
            </a:r>
          </a:p>
        </p:txBody>
      </p:sp>
      <p:sp>
        <p:nvSpPr>
          <p:cNvPr id="33" name="Rounded Rectangle 32"/>
          <p:cNvSpPr/>
          <p:nvPr/>
        </p:nvSpPr>
        <p:spPr>
          <a:xfrm>
            <a:off x="6217920" y="4343400"/>
            <a:ext cx="562356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4416552"/>
            <a:ext cx="5440680" cy="228600"/>
          </a:xfrm>
          <a:prstGeom prst="rect">
            <a:avLst/>
          </a:prstGeom>
          <a:noFill/>
        </p:spPr>
        <p:txBody>
          <a:bodyPr wrap="square" lIns="36576" tIns="36576" rIns="36576" bIns="36576">
            <a:spAutoFit/>
          </a:bodyPr>
          <a:lstStyle/>
          <a:p>
            <a:pPr algn="l"/>
            <a:r>
              <a:rPr sz="950" b="1" i="0">
                <a:solidFill>
                  <a:srgbClr val="0E4D82"/>
                </a:solidFill>
              </a:rPr>
              <a:t>Pengaturan Kalender Hari Kerja &amp; Libur Shift:</a:t>
            </a:r>
          </a:p>
        </p:txBody>
      </p:sp>
      <p:sp>
        <p:nvSpPr>
          <p:cNvPr id="35" name="TextBox 34"/>
          <p:cNvSpPr txBox="1"/>
          <p:nvPr/>
        </p:nvSpPr>
        <p:spPr>
          <a:xfrm>
            <a:off x="6309360" y="4663440"/>
            <a:ext cx="5440680" cy="566928"/>
          </a:xfrm>
          <a:prstGeom prst="rect">
            <a:avLst/>
          </a:prstGeom>
          <a:noFill/>
        </p:spPr>
        <p:txBody>
          <a:bodyPr wrap="square" lIns="36576" tIns="36576" rIns="36576" bIns="36576">
            <a:spAutoFit/>
          </a:bodyPr>
          <a:lstStyle/>
          <a:p>
            <a:pPr algn="l"/>
            <a:r>
              <a:rPr sz="830" b="0" i="0">
                <a:solidFill>
                  <a:srgbClr val="1E293B"/>
                </a:solidFill>
              </a:rPr>
              <a:t>Kalender interaktif bulanan yang mudah digunakan: cukup klik tanggal untuk mengubahnya menjadi hari kerja penuh, hari libur, setengah hari, atau lembur.</a:t>
            </a:r>
          </a:p>
        </p:txBody>
      </p:sp>
      <p:sp>
        <p:nvSpPr>
          <p:cNvPr id="36" name="Rounded Rectangle 35"/>
          <p:cNvSpPr/>
          <p:nvPr/>
        </p:nvSpPr>
        <p:spPr>
          <a:xfrm>
            <a:off x="6217920" y="5349240"/>
            <a:ext cx="5623560" cy="932688"/>
          </a:xfrm>
          <a:prstGeom prst="roundRect">
            <a:avLst/>
          </a:prstGeom>
          <a:solidFill>
            <a:srgbClr val="F8FAFC"/>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5422392"/>
            <a:ext cx="5440680" cy="228600"/>
          </a:xfrm>
          <a:prstGeom prst="rect">
            <a:avLst/>
          </a:prstGeom>
          <a:noFill/>
        </p:spPr>
        <p:txBody>
          <a:bodyPr wrap="square" lIns="36576" tIns="36576" rIns="36576" bIns="36576">
            <a:spAutoFit/>
          </a:bodyPr>
          <a:lstStyle/>
          <a:p>
            <a:pPr algn="l"/>
            <a:r>
              <a:rPr sz="950" b="1" i="0">
                <a:solidFill>
                  <a:srgbClr val="0E4D82"/>
                </a:solidFill>
              </a:rPr>
              <a:t>Evaluasi Kinerja &amp; Saran Tindakan Otomatis (CAP):</a:t>
            </a:r>
          </a:p>
        </p:txBody>
      </p:sp>
      <p:sp>
        <p:nvSpPr>
          <p:cNvPr id="38" name="TextBox 37"/>
          <p:cNvSpPr txBox="1"/>
          <p:nvPr/>
        </p:nvSpPr>
        <p:spPr>
          <a:xfrm>
            <a:off x="6309360" y="5669279"/>
            <a:ext cx="5440680" cy="566928"/>
          </a:xfrm>
          <a:prstGeom prst="rect">
            <a:avLst/>
          </a:prstGeom>
          <a:noFill/>
        </p:spPr>
        <p:txBody>
          <a:bodyPr wrap="square" lIns="36576" tIns="36576" rIns="36576" bIns="36576">
            <a:spAutoFit/>
          </a:bodyPr>
          <a:lstStyle/>
          <a:p>
            <a:pPr algn="l"/>
            <a:r>
              <a:rPr sz="830" b="0" i="0">
                <a:solidFill>
                  <a:srgbClr val="1E293B"/>
                </a:solidFill>
              </a:rPr>
              <a:t>Sistem cerdas yang secara otomatis mendeteksi status risiko produksi (Aman / Perlu Perhatian / Berisiko) serta merumuskan rekomendasi tindakan nyata jika target harian belum tercapai.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